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9" d="100"/>
          <a:sy n="59" d="100"/>
        </p:scale>
        <p:origin x="3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02-02-2026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Automated Quiz Engine with PDF Certification Generation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J.POORNA CHANDAR – VTU25980 – 23UECS0748.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10902" y="1257300"/>
            <a:ext cx="15082325" cy="13018949"/>
          </a:xfrm>
          <a:prstGeom prst="rect">
            <a:avLst/>
          </a:prstGeom>
          <a:noFill/>
        </p:spPr>
        <p:txBody>
          <a:bodyPr wrap="square" rtlCol="0">
            <a:spAutoFit/>
          </a:bodyPr>
          <a:lstStyle/>
          <a:p>
            <a:r>
              <a:rPr lang="en-US" sz="2800" b="1" dirty="0">
                <a:solidFill>
                  <a:srgbClr val="0033CC"/>
                </a:solidFill>
              </a:rPr>
              <a:t>Background of the problem:</a:t>
            </a:r>
          </a:p>
          <a:p>
            <a:endParaRPr lang="en-US" sz="2800" dirty="0"/>
          </a:p>
          <a:p>
            <a:pPr algn="just"/>
            <a:r>
              <a:rPr lang="en-US" sz="2800" dirty="0"/>
              <a:t>It addresses the limitations of traditional exams by providing a flexible, automated platform for conducting tests online and instantly analyzing results. This reduces manual effort, ensures accuracy, and delivers quick feedback to students and administrators</a:t>
            </a:r>
          </a:p>
          <a:p>
            <a:pPr algn="just"/>
            <a:endParaRPr lang="en-US" sz="2800" dirty="0"/>
          </a:p>
          <a:p>
            <a:r>
              <a:rPr lang="en-US" sz="2800" b="1" dirty="0">
                <a:solidFill>
                  <a:srgbClr val="0033CC"/>
                </a:solidFill>
              </a:rPr>
              <a:t>Why this project is important:</a:t>
            </a:r>
          </a:p>
          <a:p>
            <a:endParaRPr lang="en-US" sz="2800" dirty="0"/>
          </a:p>
          <a:p>
            <a:r>
              <a:rPr lang="en-US" sz="2800" dirty="0"/>
              <a:t>It streamlines learning assessments and validates knowledge instantly.</a:t>
            </a:r>
          </a:p>
          <a:p>
            <a:endParaRPr lang="en-US" sz="2800" b="1" dirty="0"/>
          </a:p>
          <a:p>
            <a:r>
              <a:rPr lang="en-US" sz="2800" b="1" dirty="0">
                <a:solidFill>
                  <a:srgbClr val="0033CC"/>
                </a:solidFill>
              </a:rPr>
              <a:t>Real-world relevance:</a:t>
            </a:r>
          </a:p>
          <a:p>
            <a:endParaRPr lang="en-US" sz="2800" dirty="0"/>
          </a:p>
          <a:p>
            <a:r>
              <a:rPr lang="en-US" sz="2800" dirty="0"/>
              <a:t>Useful for online courses, corporate training, and skill evaluations.</a:t>
            </a:r>
          </a:p>
          <a:p>
            <a:endParaRPr lang="en-US" sz="2800" dirty="0"/>
          </a:p>
          <a:p>
            <a:r>
              <a:rPr lang="en-US" sz="2800" b="1" dirty="0">
                <a:solidFill>
                  <a:srgbClr val="0033CC"/>
                </a:solidFill>
              </a:rPr>
              <a:t>Brief overview of the system:</a:t>
            </a:r>
          </a:p>
          <a:p>
            <a:endParaRPr lang="en-US" sz="2800" dirty="0"/>
          </a:p>
          <a:p>
            <a:r>
              <a:rPr lang="en-US" sz="2800" dirty="0"/>
              <a:t>An automated quiz engine that generates results and grades.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864513"/>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r>
              <a:rPr lang="en-US" sz="2800" dirty="0"/>
              <a:t>Traditional examination systems are often slow, resource‑heavy, and vulnerable to human error, leading to inefficiencies in both conducting exams and processing results. Manual evaluation delays the release of outcomes, which in turn affects timely academic decisions and student progress. Learners are deprived of instant feedback and detailed performance insights that could guide their improvement. At the same time, institutions face challenges in securely managing large volumes of exam data while ensuring scalability and user‑friendliness. Existing solutions frequently lack dynamic adaptability and comprehensive analysis features. Therefore, there is a pressing need for a robust online platform that automates exam conduction, evaluation, and result analysis in an efficient, secure, and scalable manner</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4282207" y="5853462"/>
            <a:ext cx="15082325" cy="4832092"/>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Rectangle 3">
            <a:extLst>
              <a:ext uri="{FF2B5EF4-FFF2-40B4-BE49-F238E27FC236}">
                <a16:creationId xmlns:a16="http://schemas.microsoft.com/office/drawing/2014/main" id="{D79B9E57-B6D1-F302-90A9-CB0A4D0ADB6A}"/>
              </a:ext>
            </a:extLst>
          </p:cNvPr>
          <p:cNvSpPr>
            <a:spLocks noChangeArrowheads="1"/>
          </p:cNvSpPr>
          <p:nvPr/>
        </p:nvSpPr>
        <p:spPr bwMode="auto">
          <a:xfrm>
            <a:off x="2141192" y="2911081"/>
            <a:ext cx="1400561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1" i="0" u="none" strike="noStrike" cap="none" normalizeH="0" baseline="0" dirty="0">
                <a:ln>
                  <a:noFill/>
                </a:ln>
                <a:solidFill>
                  <a:schemeClr val="tx1"/>
                </a:solidFill>
                <a:effectLst/>
              </a:rPr>
              <a:t>Automate Examination Process</a:t>
            </a:r>
            <a:r>
              <a:rPr kumimoji="0" lang="en-US" altLang="en-US" sz="2800" b="0" i="0" u="none" strike="noStrike" cap="none" normalizeH="0" baseline="0" dirty="0">
                <a:ln>
                  <a:noFill/>
                </a:ln>
                <a:solidFill>
                  <a:schemeClr val="tx1"/>
                </a:solidFill>
                <a:effectLst/>
              </a:rPr>
              <a:t> – To design and implement a secure, scalable platform that enables</a:t>
            </a:r>
            <a:r>
              <a:rPr lang="en-US" altLang="en-US" sz="2800" dirty="0"/>
              <a:t>      </a:t>
            </a:r>
            <a:r>
              <a:rPr kumimoji="0" lang="en-US" altLang="en-US" sz="2800" b="0" i="0" u="none" strike="noStrike" cap="none" normalizeH="0" baseline="0" dirty="0">
                <a:ln>
                  <a:noFill/>
                </a:ln>
                <a:solidFill>
                  <a:schemeClr val="tx1"/>
                </a:solidFill>
                <a:effectLst/>
              </a:rPr>
              <a:t> dynamic creation, scheduling, and conduction of online exams with minimal manual intervention.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1" i="0" u="none" strike="noStrike" cap="none" normalizeH="0" baseline="0" dirty="0">
                <a:ln>
                  <a:noFill/>
                </a:ln>
                <a:solidFill>
                  <a:schemeClr val="tx1"/>
                </a:solidFill>
                <a:effectLst/>
              </a:rPr>
              <a:t>Instant Evaluation &amp; Feedback</a:t>
            </a:r>
            <a:r>
              <a:rPr kumimoji="0" lang="en-US" altLang="en-US" sz="2800" b="0" i="0" u="none" strike="noStrike" cap="none" normalizeH="0" baseline="0" dirty="0">
                <a:ln>
                  <a:noFill/>
                </a:ln>
                <a:solidFill>
                  <a:schemeClr val="tx1"/>
                </a:solidFill>
                <a:effectLst/>
              </a:rPr>
              <a:t> – To integrate automated result processing that provides students with immediate scores, detailed performance analysis, and personalized feedback for improvement.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rPr>
              <a:t>3.Efficient Data Management &amp; Reporting</a:t>
            </a:r>
            <a:r>
              <a:rPr kumimoji="0" lang="en-US" altLang="en-US" sz="2800" b="0" i="0" u="none" strike="noStrike" cap="none" normalizeH="0" baseline="0" dirty="0">
                <a:ln>
                  <a:noFill/>
                </a:ln>
                <a:solidFill>
                  <a:schemeClr val="tx1"/>
                </a:solidFill>
                <a:effectLst/>
              </a:rPr>
              <a:t> – To ensure secure storage, retrieval, and analysis of examination data, enabling institutions to generate insightful reports and make timely academic decisions.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Dynamic online quiz and result analysis that manages users, quizzes, evaluation, in one platform</a:t>
            </a:r>
          </a:p>
          <a:p>
            <a:pPr lvl="1"/>
            <a:endParaRPr lang="en-US" sz="2800" dirty="0"/>
          </a:p>
          <a:p>
            <a:pPr marL="457200" indent="-457200">
              <a:buFontTx/>
              <a:buChar char="-"/>
            </a:pPr>
            <a:r>
              <a:rPr lang="en-US" sz="2800" dirty="0"/>
              <a:t>2. It allows users to register and attend exams easily.</a:t>
            </a:r>
          </a:p>
          <a:p>
            <a:pPr marL="457200" indent="-457200">
              <a:buFontTx/>
              <a:buChar char="-"/>
            </a:pPr>
            <a:endParaRPr lang="en-US" sz="2800" dirty="0"/>
          </a:p>
          <a:p>
            <a:pPr marL="457200" indent="-457200">
              <a:buFontTx/>
              <a:buChar char="-"/>
            </a:pPr>
            <a:r>
              <a:rPr lang="en-US" sz="2800" dirty="0"/>
              <a:t>3. Admin can create and manage tests.</a:t>
            </a:r>
          </a:p>
          <a:p>
            <a:pPr marL="457200" indent="-457200">
              <a:buFontTx/>
              <a:buChar char="-"/>
            </a:pPr>
            <a:endParaRPr lang="en-US" sz="2800" dirty="0"/>
          </a:p>
          <a:p>
            <a:pPr marL="457200" indent="-457200">
              <a:buFontTx/>
              <a:buChar char="-"/>
            </a:pPr>
            <a:r>
              <a:rPr lang="en-US" sz="2800" dirty="0"/>
              <a:t>4. The system checks answers and calculates marks automatically.</a:t>
            </a:r>
          </a:p>
          <a:p>
            <a:pPr marL="457200" indent="-457200">
              <a:buFontTx/>
              <a:buChar char="-"/>
            </a:pPr>
            <a:endParaRPr lang="en-US" sz="2800" dirty="0"/>
          </a:p>
          <a:p>
            <a:pPr marL="457200" indent="-457200">
              <a:buFontTx/>
              <a:buChar char="-"/>
            </a:pPr>
            <a:r>
              <a:rPr lang="en-US" sz="2800" dirty="0"/>
              <a:t>5. It generates scores and grades for students who pass the quiz.</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result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3" y="2117811"/>
            <a:ext cx="14312828"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diagram illustrates a user journey through an online examination system, starting with signup, proceeding to login, taking a test, and then analyzing the results.&#10;&#10;AI-generated content may be incorrect.">
            <a:extLst>
              <a:ext uri="{FF2B5EF4-FFF2-40B4-BE49-F238E27FC236}">
                <a16:creationId xmlns:a16="http://schemas.microsoft.com/office/drawing/2014/main" id="{F3CE8FCF-0796-078B-B353-5632694B9D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9100" y="1696985"/>
            <a:ext cx="11087100" cy="70279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176975" y="2060149"/>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illustrates a web page layout with a multi-step process for a user to complete an online exam, including options to choose subjects, submit answers, and view results.&#10;&#10;AI-generated content may be incorrect.">
            <a:extLst>
              <a:ext uri="{FF2B5EF4-FFF2-40B4-BE49-F238E27FC236}">
                <a16:creationId xmlns:a16="http://schemas.microsoft.com/office/drawing/2014/main" id="{25888146-4C53-0D0E-0C39-1ACC16209312}"/>
              </a:ext>
            </a:extLst>
          </p:cNvPr>
          <p:cNvPicPr>
            <a:picLocks noChangeAspect="1"/>
          </p:cNvPicPr>
          <p:nvPr/>
        </p:nvPicPr>
        <p:blipFill>
          <a:blip r:embed="rId4"/>
          <a:stretch>
            <a:fillRect/>
          </a:stretch>
        </p:blipFill>
        <p:spPr>
          <a:xfrm>
            <a:off x="4267200" y="2399298"/>
            <a:ext cx="9541067" cy="42557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1638300"/>
            <a:ext cx="15082325" cy="13449836"/>
          </a:xfrm>
          <a:prstGeom prst="rect">
            <a:avLst/>
          </a:prstGeom>
          <a:noFill/>
        </p:spPr>
        <p:txBody>
          <a:bodyPr wrap="square" rtlCol="0">
            <a:spAutoFit/>
          </a:bodyPr>
          <a:lstStyle/>
          <a:p>
            <a:r>
              <a:rPr lang="en-US" sz="2800" dirty="0">
                <a:solidFill>
                  <a:srgbClr val="0033CC"/>
                </a:solidFill>
              </a:rPr>
              <a:t>Frontend:</a:t>
            </a:r>
          </a:p>
          <a:p>
            <a:r>
              <a:rPr lang="en-US" sz="2800" dirty="0"/>
              <a:t>1.HTML5</a:t>
            </a:r>
          </a:p>
          <a:p>
            <a:r>
              <a:rPr lang="en-US" sz="2800" dirty="0"/>
              <a:t>2.CSS5</a:t>
            </a:r>
          </a:p>
          <a:p>
            <a:r>
              <a:rPr lang="en-US" sz="2800" dirty="0"/>
              <a:t>3.Javascript</a:t>
            </a:r>
          </a:p>
          <a:p>
            <a:endParaRPr lang="en-US" sz="2800" dirty="0"/>
          </a:p>
          <a:p>
            <a:r>
              <a:rPr lang="en-US" sz="2800" dirty="0">
                <a:solidFill>
                  <a:srgbClr val="0033CC"/>
                </a:solidFill>
              </a:rPr>
              <a:t>Backend:</a:t>
            </a:r>
          </a:p>
          <a:p>
            <a:r>
              <a:rPr lang="en-US" sz="2800" dirty="0"/>
              <a:t>1.Java Spring Boot</a:t>
            </a:r>
          </a:p>
          <a:p>
            <a:r>
              <a:rPr lang="en-US" sz="2800" dirty="0"/>
              <a:t>2.Spring security</a:t>
            </a:r>
          </a:p>
          <a:p>
            <a:endParaRPr lang="en-US" sz="2800" dirty="0"/>
          </a:p>
          <a:p>
            <a:r>
              <a:rPr lang="en-US" sz="2800" dirty="0">
                <a:solidFill>
                  <a:srgbClr val="0033CC"/>
                </a:solidFill>
              </a:rPr>
              <a:t>Tools:</a:t>
            </a:r>
          </a:p>
          <a:p>
            <a:r>
              <a:rPr lang="en-US" sz="2800" dirty="0"/>
              <a:t>1.Eclipse IDE</a:t>
            </a:r>
          </a:p>
          <a:p>
            <a:endParaRPr lang="en-US" sz="2800" dirty="0"/>
          </a:p>
          <a:p>
            <a:r>
              <a:rPr lang="en-US" sz="2800" dirty="0">
                <a:solidFill>
                  <a:srgbClr val="0033CC"/>
                </a:solidFill>
              </a:rPr>
              <a:t>Software Requirements</a:t>
            </a:r>
            <a:r>
              <a:rPr lang="en-US" sz="2800" dirty="0"/>
              <a:t>:</a:t>
            </a:r>
          </a:p>
          <a:p>
            <a:r>
              <a:rPr lang="en-US" sz="2800" dirty="0"/>
              <a:t>1.Windows / Mac </a:t>
            </a:r>
          </a:p>
          <a:p>
            <a:r>
              <a:rPr lang="en-US" sz="2800" dirty="0"/>
              <a:t>2. Web Browser</a:t>
            </a:r>
          </a:p>
          <a:p>
            <a:endParaRPr lang="en-US" sz="2800" dirty="0"/>
          </a:p>
          <a:p>
            <a:r>
              <a:rPr lang="en-US" sz="2800" dirty="0"/>
              <a:t>Database:</a:t>
            </a:r>
          </a:p>
          <a:p>
            <a:r>
              <a:rPr lang="en-US" sz="2800" dirty="0"/>
              <a:t>1.Mysql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IN" sz="2800" b="1" dirty="0"/>
              <a:t>Module 1: User Management</a:t>
            </a:r>
          </a:p>
          <a:p>
            <a:r>
              <a:rPr lang="en-IN" sz="2800" dirty="0"/>
              <a:t>Handles user registration, login, and profile management with secure authentication.</a:t>
            </a:r>
          </a:p>
          <a:p>
            <a:endParaRPr lang="en-IN" sz="2800" dirty="0"/>
          </a:p>
          <a:p>
            <a:r>
              <a:rPr lang="en-IN" sz="2800" b="1" dirty="0"/>
              <a:t>Module 2: Test Management</a:t>
            </a:r>
          </a:p>
          <a:p>
            <a:r>
              <a:rPr lang="en-IN" sz="2800" dirty="0"/>
              <a:t>Allows Admin to create , update , delete , quizzes and manage questions.</a:t>
            </a:r>
          </a:p>
          <a:p>
            <a:endParaRPr lang="en-IN" sz="2800" dirty="0"/>
          </a:p>
          <a:p>
            <a:r>
              <a:rPr lang="en-IN" sz="2800" b="1" dirty="0"/>
              <a:t>Module 3: Test Execution &amp; Evaluation</a:t>
            </a:r>
          </a:p>
          <a:p>
            <a:r>
              <a:rPr lang="en-IN" sz="2800" dirty="0"/>
              <a:t>Conducts Tests , record answers,  and automatically calculates scores.</a:t>
            </a:r>
          </a:p>
          <a:p>
            <a:endParaRPr lang="en-IN" sz="2800" dirty="0"/>
          </a:p>
          <a:p>
            <a:r>
              <a:rPr lang="en-IN" sz="2800" b="1" dirty="0"/>
              <a:t>Module 4: Result and grade generation</a:t>
            </a:r>
          </a:p>
          <a:p>
            <a:r>
              <a:rPr lang="en-US" sz="2800" dirty="0"/>
              <a:t>Generates results and grades for users who pass the quiz.</a:t>
            </a:r>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SIGN UP &amp; LOGIN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Login&#10;&#10;AI-generated content may be incorrect.">
            <a:extLst>
              <a:ext uri="{FF2B5EF4-FFF2-40B4-BE49-F238E27FC236}">
                <a16:creationId xmlns:a16="http://schemas.microsoft.com/office/drawing/2014/main" id="{08B0A693-3EC3-23B8-B6E9-4ADC77E9E5E5}"/>
              </a:ext>
            </a:extLst>
          </p:cNvPr>
          <p:cNvPicPr>
            <a:picLocks noChangeAspect="1"/>
          </p:cNvPicPr>
          <p:nvPr/>
        </p:nvPicPr>
        <p:blipFill>
          <a:blip r:embed="rId4"/>
          <a:stretch>
            <a:fillRect/>
          </a:stretch>
        </p:blipFill>
        <p:spPr>
          <a:xfrm>
            <a:off x="1877700" y="2102856"/>
            <a:ext cx="14532599" cy="608128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Main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shows a user interface for the ExamCore platform, featuring a welcome message, an option to log out, and a stack development exam with a timer, offering questions in various web technologies.&#10;&#10;AI-generated content may be incorrect.">
            <a:extLst>
              <a:ext uri="{FF2B5EF4-FFF2-40B4-BE49-F238E27FC236}">
                <a16:creationId xmlns:a16="http://schemas.microsoft.com/office/drawing/2014/main" id="{95B055F6-61E8-7D23-A6F7-85B7B2886135}"/>
              </a:ext>
            </a:extLst>
          </p:cNvPr>
          <p:cNvPicPr>
            <a:picLocks noChangeAspect="1"/>
          </p:cNvPicPr>
          <p:nvPr/>
        </p:nvPicPr>
        <p:blipFill>
          <a:blip r:embed="rId4"/>
          <a:stretch>
            <a:fillRect/>
          </a:stretch>
        </p:blipFill>
        <p:spPr>
          <a:xfrm>
            <a:off x="2162160" y="2254251"/>
            <a:ext cx="14502117" cy="755207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HTML.&#10;&#10;AI-generated content may be incorrect.">
            <a:extLst>
              <a:ext uri="{FF2B5EF4-FFF2-40B4-BE49-F238E27FC236}">
                <a16:creationId xmlns:a16="http://schemas.microsoft.com/office/drawing/2014/main" id="{83B79C94-8F9A-8235-FA3A-7597571F25EC}"/>
              </a:ext>
            </a:extLst>
          </p:cNvPr>
          <p:cNvPicPr>
            <a:picLocks noChangeAspect="1"/>
          </p:cNvPicPr>
          <p:nvPr/>
        </p:nvPicPr>
        <p:blipFill>
          <a:blip r:embed="rId4"/>
          <a:stretch>
            <a:fillRect/>
          </a:stretch>
        </p:blipFill>
        <p:spPr>
          <a:xfrm>
            <a:off x="3619024" y="1550202"/>
            <a:ext cx="10973751" cy="7811177"/>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displays a scoreboard for a coding exam, showing a total of 20 questions with 14 answered, a score of 70%, and options to print the results or return to the dashboard.&#10;&#10;AI-generated content may be incorrect.">
            <a:extLst>
              <a:ext uri="{FF2B5EF4-FFF2-40B4-BE49-F238E27FC236}">
                <a16:creationId xmlns:a16="http://schemas.microsoft.com/office/drawing/2014/main" id="{D3BB1DDA-AD86-E600-4E0E-4B3F6372A7FF}"/>
              </a:ext>
            </a:extLst>
          </p:cNvPr>
          <p:cNvPicPr>
            <a:picLocks noChangeAspect="1"/>
          </p:cNvPicPr>
          <p:nvPr/>
        </p:nvPicPr>
        <p:blipFill>
          <a:blip r:embed="rId4"/>
          <a:stretch>
            <a:fillRect/>
          </a:stretch>
        </p:blipFill>
        <p:spPr>
          <a:xfrm>
            <a:off x="4724017" y="1276015"/>
            <a:ext cx="8839966" cy="7734970"/>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710077"/>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2.Instant result .</a:t>
            </a:r>
          </a:p>
          <a:p>
            <a:r>
              <a:rPr lang="en-US" sz="2800" dirty="0"/>
              <a:t>3.Easy Access &amp; Scalable.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1.Limited to Objective-Type Questions.</a:t>
            </a:r>
          </a:p>
          <a:p>
            <a:r>
              <a:rPr lang="en-US" sz="2800" dirty="0"/>
              <a:t>2.Internet Dependency(Stable Internet connection is Required).</a:t>
            </a:r>
          </a:p>
          <a:p>
            <a:r>
              <a:rPr lang="en-US" sz="2800" dirty="0"/>
              <a:t>3.Security and Malpractice Issues.</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466</TotalTime>
  <Words>827</Words>
  <Application>Microsoft Office PowerPoint</Application>
  <PresentationFormat>Custom</PresentationFormat>
  <Paragraphs>346</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Gotham</vt:lpstr>
      <vt:lpstr>Bookman Old Style</vt:lpstr>
      <vt:lpstr>Arial</vt:lpstr>
      <vt:lpstr>Calibri</vt:lpstr>
      <vt:lpstr>Times New Roman</vt:lpstr>
      <vt:lpstr>Cambria</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POORNA CHANDAR</dc:creator>
  <cp:lastModifiedBy>Jonnalagadda Poorna Chandar</cp:lastModifiedBy>
  <cp:revision>16</cp:revision>
  <dcterms:created xsi:type="dcterms:W3CDTF">2006-08-16T00:00:00Z</dcterms:created>
  <dcterms:modified xsi:type="dcterms:W3CDTF">2026-03-22T06:13:35Z</dcterms:modified>
  <dc:identifier>DAHCaYqJ9OU</dc:identifier>
</cp:coreProperties>
</file>