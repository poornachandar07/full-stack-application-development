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80" r:id="rId2"/>
    <p:sldId id="271" r:id="rId3"/>
    <p:sldId id="272" r:id="rId4"/>
    <p:sldId id="259" r:id="rId5"/>
    <p:sldId id="273" r:id="rId6"/>
    <p:sldId id="274" r:id="rId7"/>
    <p:sldId id="275" r:id="rId8"/>
    <p:sldId id="276" r:id="rId9"/>
    <p:sldId id="277" r:id="rId10"/>
    <p:sldId id="266" r:id="rId11"/>
    <p:sldId id="279" r:id="rId12"/>
    <p:sldId id="267" r:id="rId13"/>
    <p:sldId id="268" r:id="rId14"/>
    <p:sldId id="278" r:id="rId15"/>
    <p:sldId id="265" r:id="rId16"/>
  </p:sldIdLst>
  <p:sldSz cx="18288000" cy="10287000"/>
  <p:notesSz cx="6858000" cy="9144000"/>
  <p:embeddedFontLst>
    <p:embeddedFont>
      <p:font typeface="Bookman Old Style" panose="02050604050505020204" pitchFamily="18" charset="0"/>
      <p:regular r:id="rId17"/>
      <p:bold r:id="rId18"/>
      <p:italic r:id="rId19"/>
      <p:boldItalic r:id="rId20"/>
    </p:embeddedFont>
    <p:embeddedFont>
      <p:font typeface="Cambria" panose="02040503050406030204" pitchFamily="18" charset="0"/>
      <p:regular r:id="rId21"/>
      <p:bold r:id="rId22"/>
      <p:italic r:id="rId23"/>
      <p:boldItalic r:id="rId24"/>
    </p:embeddedFont>
    <p:embeddedFont>
      <p:font typeface="Gotham" panose="020B0604020202020204" charset="0"/>
      <p:regular r:id="rId25"/>
    </p:embeddedFont>
    <p:embeddedFont>
      <p:font typeface="Gotham Bold Italics" panose="020B0604020202020204"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58F3"/>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428" autoAdjust="0"/>
    <p:restoredTop sz="94622" autoAdjust="0"/>
  </p:normalViewPr>
  <p:slideViewPr>
    <p:cSldViewPr>
      <p:cViewPr varScale="1">
        <p:scale>
          <a:sx n="59" d="100"/>
          <a:sy n="59" d="100"/>
        </p:scale>
        <p:origin x="245" y="10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10"/>
          <p:cNvGrpSpPr/>
          <p:nvPr/>
        </p:nvGrpSpPr>
        <p:grpSpPr>
          <a:xfrm>
            <a:off x="11762088" y="-9632634"/>
            <a:ext cx="10994424" cy="1099442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965724" y="-1383136"/>
            <a:ext cx="10994424" cy="10994424"/>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21" name="TextBox 21"/>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pic>
        <p:nvPicPr>
          <p:cNvPr id="23" name="Picture 22">
            <a:extLst>
              <a:ext uri="{FF2B5EF4-FFF2-40B4-BE49-F238E27FC236}">
                <a16:creationId xmlns:a16="http://schemas.microsoft.com/office/drawing/2014/main" id="{1194AAA3-5CF4-E695-04C9-0894FFF6F1F1}"/>
              </a:ext>
            </a:extLst>
          </p:cNvPr>
          <p:cNvPicPr>
            <a:picLocks noChangeAspect="1"/>
          </p:cNvPicPr>
          <p:nvPr/>
        </p:nvPicPr>
        <p:blipFill>
          <a:blip r:embed="rId2"/>
          <a:stretch>
            <a:fillRect/>
          </a:stretch>
        </p:blipFill>
        <p:spPr>
          <a:xfrm>
            <a:off x="6799772" y="16492"/>
            <a:ext cx="4131816" cy="1784622"/>
          </a:xfrm>
          <a:prstGeom prst="rect">
            <a:avLst/>
          </a:prstGeom>
        </p:spPr>
      </p:pic>
      <p:sp>
        <p:nvSpPr>
          <p:cNvPr id="24" name="TextBox 23">
            <a:extLst>
              <a:ext uri="{FF2B5EF4-FFF2-40B4-BE49-F238E27FC236}">
                <a16:creationId xmlns:a16="http://schemas.microsoft.com/office/drawing/2014/main" id="{BB0EB85C-D9CE-08DC-1131-77C9DD1A002D}"/>
              </a:ext>
            </a:extLst>
          </p:cNvPr>
          <p:cNvSpPr txBox="1"/>
          <p:nvPr/>
        </p:nvSpPr>
        <p:spPr>
          <a:xfrm>
            <a:off x="1360002" y="1608482"/>
            <a:ext cx="15925800" cy="1631216"/>
          </a:xfrm>
          <a:prstGeom prst="rect">
            <a:avLst/>
          </a:prstGeom>
          <a:noFill/>
        </p:spPr>
        <p:txBody>
          <a:bodyPr wrap="square" rtlCol="0">
            <a:spAutoFit/>
          </a:bodyPr>
          <a:lstStyle/>
          <a:p>
            <a:pPr algn="ctr"/>
            <a:r>
              <a:rPr lang="en-US" sz="3200" b="1" dirty="0">
                <a:latin typeface="Cambria" panose="02040503050406030204" pitchFamily="18" charset="0"/>
                <a:ea typeface="Cambria" panose="02040503050406030204" pitchFamily="18" charset="0"/>
              </a:rPr>
              <a:t>Vel Tech Rangarajan Dr. Sagunthala R&amp;D Institute of Science and Technology</a:t>
            </a:r>
          </a:p>
          <a:p>
            <a:pPr algn="ctr"/>
            <a:r>
              <a:rPr lang="en-US" sz="3600" b="1" dirty="0">
                <a:latin typeface="Cambria" panose="02040503050406030204" pitchFamily="18" charset="0"/>
                <a:ea typeface="Cambria" panose="02040503050406030204" pitchFamily="18" charset="0"/>
              </a:rPr>
              <a:t>School of Computing </a:t>
            </a:r>
          </a:p>
          <a:p>
            <a:pPr algn="ctr"/>
            <a:r>
              <a:rPr lang="en-US" sz="3200" b="1" dirty="0">
                <a:latin typeface="Cambria" panose="02040503050406030204" pitchFamily="18" charset="0"/>
                <a:ea typeface="Cambria" panose="02040503050406030204" pitchFamily="18" charset="0"/>
              </a:rPr>
              <a:t>Department of Computer Science and Engineering</a:t>
            </a:r>
            <a:endParaRPr lang="en-IN" sz="3200" b="1" dirty="0">
              <a:latin typeface="Cambria" panose="02040503050406030204" pitchFamily="18" charset="0"/>
              <a:ea typeface="Cambria" panose="02040503050406030204" pitchFamily="18" charset="0"/>
            </a:endParaRPr>
          </a:p>
        </p:txBody>
      </p:sp>
      <p:sp>
        <p:nvSpPr>
          <p:cNvPr id="26" name="TextBox 25">
            <a:extLst>
              <a:ext uri="{FF2B5EF4-FFF2-40B4-BE49-F238E27FC236}">
                <a16:creationId xmlns:a16="http://schemas.microsoft.com/office/drawing/2014/main" id="{55785AF5-58C8-2624-E1FD-4723B0683DE6}"/>
              </a:ext>
            </a:extLst>
          </p:cNvPr>
          <p:cNvSpPr txBox="1"/>
          <p:nvPr/>
        </p:nvSpPr>
        <p:spPr>
          <a:xfrm>
            <a:off x="1692835" y="3272357"/>
            <a:ext cx="15260135" cy="523220"/>
          </a:xfrm>
          <a:prstGeom prst="rect">
            <a:avLst/>
          </a:prstGeom>
          <a:noFill/>
        </p:spPr>
        <p:txBody>
          <a:bodyPr wrap="square">
            <a:spAutoFit/>
          </a:bodyPr>
          <a:lstStyle/>
          <a:p>
            <a:pPr algn="ctr"/>
            <a:r>
              <a:rPr lang="en-US" sz="2800" b="1" dirty="0">
                <a:solidFill>
                  <a:srgbClr val="0033CC"/>
                </a:solidFill>
                <a:latin typeface="Bookman Old Style" panose="02050604050505020204" pitchFamily="18" charset="0"/>
              </a:rPr>
              <a:t>10211CS224 / FULL STACK APPLICATION DEVELOPMENT (JAVA)</a:t>
            </a:r>
            <a:endParaRPr lang="en-IN" sz="2800" b="1" dirty="0">
              <a:solidFill>
                <a:srgbClr val="0033CC"/>
              </a:solidFill>
              <a:latin typeface="Bookman Old Style" panose="02050604050505020204" pitchFamily="18" charset="0"/>
            </a:endParaRPr>
          </a:p>
        </p:txBody>
      </p:sp>
      <p:sp>
        <p:nvSpPr>
          <p:cNvPr id="27" name="TextBox 26">
            <a:extLst>
              <a:ext uri="{FF2B5EF4-FFF2-40B4-BE49-F238E27FC236}">
                <a16:creationId xmlns:a16="http://schemas.microsoft.com/office/drawing/2014/main" id="{AC6C53BF-3850-6683-E07F-D595EC8B02B2}"/>
              </a:ext>
            </a:extLst>
          </p:cNvPr>
          <p:cNvSpPr txBox="1"/>
          <p:nvPr/>
        </p:nvSpPr>
        <p:spPr>
          <a:xfrm>
            <a:off x="3727757" y="3897940"/>
            <a:ext cx="11190289" cy="1754326"/>
          </a:xfrm>
          <a:prstGeom prst="rect">
            <a:avLst/>
          </a:prstGeom>
          <a:noFill/>
        </p:spPr>
        <p:txBody>
          <a:bodyPr wrap="square" rtlCol="0">
            <a:spAutoFit/>
          </a:bodyPr>
          <a:lstStyle/>
          <a:p>
            <a:pPr algn="ctr"/>
            <a:r>
              <a:rPr lang="en-IN" sz="3600" b="1" dirty="0">
                <a:solidFill>
                  <a:srgbClr val="C00000"/>
                </a:solidFill>
                <a:latin typeface="Arial" panose="020B0604020202020204" pitchFamily="34" charset="0"/>
                <a:cs typeface="Arial" panose="020B0604020202020204" pitchFamily="34" charset="0"/>
              </a:rPr>
              <a:t>END SEMESTER PROJECT REVIEW</a:t>
            </a:r>
          </a:p>
          <a:p>
            <a:pPr algn="ctr"/>
            <a:endParaRPr lang="en-IN" sz="3600" b="1" dirty="0">
              <a:solidFill>
                <a:srgbClr val="C00000"/>
              </a:solidFill>
              <a:latin typeface="Arial" panose="020B0604020202020204" pitchFamily="34" charset="0"/>
              <a:cs typeface="Arial" panose="020B0604020202020204" pitchFamily="34" charset="0"/>
            </a:endParaRPr>
          </a:p>
          <a:p>
            <a:pPr algn="ctr"/>
            <a:r>
              <a:rPr lang="en-IN" sz="3600" b="1" dirty="0">
                <a:solidFill>
                  <a:srgbClr val="C00000"/>
                </a:solidFill>
                <a:latin typeface="Arial" panose="020B0604020202020204" pitchFamily="34" charset="0"/>
                <a:cs typeface="Arial" panose="020B0604020202020204" pitchFamily="34" charset="0"/>
              </a:rPr>
              <a:t>Date: 06-05-2026</a:t>
            </a:r>
          </a:p>
        </p:txBody>
      </p:sp>
      <p:sp>
        <p:nvSpPr>
          <p:cNvPr id="13" name="TextBox 12">
            <a:extLst>
              <a:ext uri="{FF2B5EF4-FFF2-40B4-BE49-F238E27FC236}">
                <a16:creationId xmlns:a16="http://schemas.microsoft.com/office/drawing/2014/main" id="{7FFE0DA2-4723-7C13-5FD7-FC99B0394DDD}"/>
              </a:ext>
            </a:extLst>
          </p:cNvPr>
          <p:cNvSpPr txBox="1"/>
          <p:nvPr/>
        </p:nvSpPr>
        <p:spPr>
          <a:xfrm>
            <a:off x="1501640" y="6057900"/>
            <a:ext cx="15784162" cy="1092607"/>
          </a:xfrm>
          <a:prstGeom prst="rect">
            <a:avLst/>
          </a:prstGeom>
          <a:noFill/>
        </p:spPr>
        <p:txBody>
          <a:bodyPr wrap="square" rtlCol="0">
            <a:spAutoFit/>
          </a:bodyPr>
          <a:lstStyle/>
          <a:p>
            <a:pPr algn="ctr"/>
            <a:r>
              <a:rPr lang="en-US" sz="3200" b="1" dirty="0">
                <a:solidFill>
                  <a:srgbClr val="00B0F0"/>
                </a:solidFill>
                <a:latin typeface="Times New Roman" panose="02020603050405020304" pitchFamily="18" charset="0"/>
                <a:cs typeface="Times New Roman" panose="02020603050405020304" pitchFamily="18" charset="0"/>
              </a:rPr>
              <a:t>React JS based Web application for Ticket Booking</a:t>
            </a:r>
            <a:endParaRPr lang="en-IN" sz="3200" b="1" dirty="0">
              <a:solidFill>
                <a:srgbClr val="00B0F0"/>
              </a:solidFill>
              <a:latin typeface="Times New Roman" panose="02020603050405020304" pitchFamily="18" charset="0"/>
              <a:cs typeface="Times New Roman" panose="02020603050405020304" pitchFamily="18" charset="0"/>
            </a:endParaRPr>
          </a:p>
          <a:p>
            <a:pPr algn="ctr"/>
            <a:endParaRPr lang="en-IN" sz="3200" b="1" dirty="0">
              <a:solidFill>
                <a:srgbClr val="0033CC"/>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EA8EEF4A-EB43-B7D9-87FC-7C7D752BCA78}"/>
              </a:ext>
            </a:extLst>
          </p:cNvPr>
          <p:cNvSpPr txBox="1"/>
          <p:nvPr/>
        </p:nvSpPr>
        <p:spPr>
          <a:xfrm>
            <a:off x="893870" y="7800539"/>
            <a:ext cx="9067800" cy="2084160"/>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Presented By:</a:t>
            </a:r>
          </a:p>
          <a:p>
            <a:pPr>
              <a:lnSpc>
                <a:spcPct val="150000"/>
              </a:lnSpc>
            </a:pPr>
            <a:r>
              <a:rPr lang="en-US" sz="3000" dirty="0">
                <a:latin typeface="Cambria" panose="02040503050406030204" pitchFamily="18" charset="0"/>
                <a:ea typeface="Cambria" panose="02040503050406030204" pitchFamily="18" charset="0"/>
                <a:cs typeface="Times New Roman" panose="02020603050405020304" pitchFamily="18" charset="0"/>
              </a:rPr>
              <a:t>J . POORNA CHANDAR – VTU25980 – 23UECS0748</a:t>
            </a:r>
            <a:endParaRPr lang="en-IN" sz="3000" dirty="0">
              <a:latin typeface="Cambria" panose="02040503050406030204" pitchFamily="18" charset="0"/>
              <a:ea typeface="Cambria" panose="02040503050406030204" pitchFamily="18" charset="0"/>
              <a:cs typeface="Times New Roman" panose="02020603050405020304" pitchFamily="18" charset="0"/>
            </a:endParaRPr>
          </a:p>
          <a:p>
            <a:pPr>
              <a:lnSpc>
                <a:spcPct val="150000"/>
              </a:lnSpc>
            </a:pPr>
            <a:endParaRPr lang="en-IN" sz="3000" dirty="0">
              <a:latin typeface="Cambria" panose="02040503050406030204" pitchFamily="18" charset="0"/>
              <a:ea typeface="Cambria" panose="02040503050406030204" pitchFamily="18" charset="0"/>
            </a:endParaRPr>
          </a:p>
        </p:txBody>
      </p:sp>
      <p:sp>
        <p:nvSpPr>
          <p:cNvPr id="15" name="TextBox 14">
            <a:extLst>
              <a:ext uri="{FF2B5EF4-FFF2-40B4-BE49-F238E27FC236}">
                <a16:creationId xmlns:a16="http://schemas.microsoft.com/office/drawing/2014/main" id="{6FF32D1A-2F9C-AC53-CCBD-ABF748DF236F}"/>
              </a:ext>
            </a:extLst>
          </p:cNvPr>
          <p:cNvSpPr txBox="1"/>
          <p:nvPr/>
        </p:nvSpPr>
        <p:spPr>
          <a:xfrm>
            <a:off x="11460744" y="7776745"/>
            <a:ext cx="6914603" cy="699166"/>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Courses Handling Faculty:</a:t>
            </a:r>
          </a:p>
        </p:txBody>
      </p:sp>
      <p:sp>
        <p:nvSpPr>
          <p:cNvPr id="16" name="TextBox 15">
            <a:extLst>
              <a:ext uri="{FF2B5EF4-FFF2-40B4-BE49-F238E27FC236}">
                <a16:creationId xmlns:a16="http://schemas.microsoft.com/office/drawing/2014/main" id="{A7AA51DE-E8D7-A1B4-BC0D-B25C8A0C467A}"/>
              </a:ext>
            </a:extLst>
          </p:cNvPr>
          <p:cNvSpPr txBox="1"/>
          <p:nvPr/>
        </p:nvSpPr>
        <p:spPr>
          <a:xfrm>
            <a:off x="2209800" y="6972300"/>
            <a:ext cx="14743170" cy="400110"/>
          </a:xfrm>
          <a:prstGeom prst="rect">
            <a:avLst/>
          </a:prstGeom>
          <a:noFill/>
        </p:spPr>
        <p:txBody>
          <a:bodyPr wrap="square" rtlCol="0">
            <a:spAutoFit/>
          </a:bodyPr>
          <a:lstStyle/>
          <a:p>
            <a:r>
              <a:rPr lang="en-US" sz="2000" b="1" dirty="0">
                <a:latin typeface="Cambria" panose="02040503050406030204" pitchFamily="18" charset="0"/>
                <a:ea typeface="Cambria" panose="02040503050406030204" pitchFamily="18" charset="0"/>
              </a:rPr>
              <a:t>SDG: 9 – (Industry ,Innovation,&amp; Infrastructure) &amp; 12( </a:t>
            </a:r>
            <a:r>
              <a:rPr lang="en-US" sz="2000" b="1" dirty="0" err="1">
                <a:latin typeface="Cambria" panose="02040503050406030204" pitchFamily="18" charset="0"/>
                <a:ea typeface="Cambria" panose="02040503050406030204" pitchFamily="18" charset="0"/>
              </a:rPr>
              <a:t>Resposible</a:t>
            </a:r>
            <a:r>
              <a:rPr lang="en-US" sz="2000" b="1" dirty="0">
                <a:latin typeface="Cambria" panose="02040503050406030204" pitchFamily="18" charset="0"/>
                <a:ea typeface="Cambria" panose="02040503050406030204" pitchFamily="18" charset="0"/>
              </a:rPr>
              <a:t> Consumption and Production)</a:t>
            </a:r>
            <a:endParaRPr lang="en-IN" sz="2000" b="1" dirty="0">
              <a:latin typeface="Cambria" panose="02040503050406030204" pitchFamily="18" charset="0"/>
              <a:ea typeface="Cambria" panose="02040503050406030204" pitchFamily="18" charset="0"/>
            </a:endParaRPr>
          </a:p>
        </p:txBody>
      </p:sp>
      <p:sp>
        <p:nvSpPr>
          <p:cNvPr id="2" name="TextBox 1">
            <a:extLst>
              <a:ext uri="{FF2B5EF4-FFF2-40B4-BE49-F238E27FC236}">
                <a16:creationId xmlns:a16="http://schemas.microsoft.com/office/drawing/2014/main" id="{4BDCED85-7E3F-D9F6-6B3D-19260E377E20}"/>
              </a:ext>
            </a:extLst>
          </p:cNvPr>
          <p:cNvSpPr txBox="1"/>
          <p:nvPr/>
        </p:nvSpPr>
        <p:spPr>
          <a:xfrm>
            <a:off x="11460744" y="8678518"/>
            <a:ext cx="5227056" cy="954107"/>
          </a:xfrm>
          <a:prstGeom prst="rect">
            <a:avLst/>
          </a:prstGeom>
          <a:noFill/>
        </p:spPr>
        <p:txBody>
          <a:bodyPr wrap="square" rtlCol="0">
            <a:spAutoFit/>
          </a:bodyPr>
          <a:lstStyle/>
          <a:p>
            <a:r>
              <a:rPr lang="en-US" sz="2800" dirty="0">
                <a:latin typeface="Cambria" panose="02040503050406030204" pitchFamily="18" charset="0"/>
                <a:ea typeface="Cambria" panose="02040503050406030204" pitchFamily="18" charset="0"/>
              </a:rPr>
              <a:t>Dr. S . HEMAMALINI – M.E., Ph.D.,</a:t>
            </a:r>
            <a:endParaRPr lang="en-IN" sz="2800" dirty="0">
              <a:latin typeface="Cambria" panose="02040503050406030204" pitchFamily="18" charset="0"/>
              <a:ea typeface="Cambria" panose="02040503050406030204" pitchFamily="18" charset="0"/>
            </a:endParaRPr>
          </a:p>
          <a:p>
            <a:endParaRPr lang="en-IN"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8"/>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9" name="Group 9"/>
          <p:cNvGrpSpPr/>
          <p:nvPr/>
        </p:nvGrpSpPr>
        <p:grpSpPr>
          <a:xfrm>
            <a:off x="706082" y="1952203"/>
            <a:ext cx="992463" cy="99246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1" name="TextBox 1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1</a:t>
              </a:r>
            </a:p>
          </p:txBody>
        </p:sp>
      </p:grpSp>
      <p:grpSp>
        <p:nvGrpSpPr>
          <p:cNvPr id="12" name="Group 12"/>
          <p:cNvGrpSpPr/>
          <p:nvPr/>
        </p:nvGrpSpPr>
        <p:grpSpPr>
          <a:xfrm>
            <a:off x="948235" y="4447339"/>
            <a:ext cx="508158" cy="543805"/>
            <a:chOff x="0" y="0"/>
            <a:chExt cx="812800" cy="869819"/>
          </a:xfrm>
        </p:grpSpPr>
        <p:sp>
          <p:nvSpPr>
            <p:cNvPr id="13" name="Freeform 1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4" name="TextBox 1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5" name="Group 15"/>
          <p:cNvGrpSpPr/>
          <p:nvPr/>
        </p:nvGrpSpPr>
        <p:grpSpPr>
          <a:xfrm>
            <a:off x="948235" y="3107362"/>
            <a:ext cx="508158" cy="543805"/>
            <a:chOff x="0" y="0"/>
            <a:chExt cx="812800" cy="869819"/>
          </a:xfrm>
        </p:grpSpPr>
        <p:sp>
          <p:nvSpPr>
            <p:cNvPr id="16" name="Freeform 1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7" name="TextBox 1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18" name="Group 18"/>
          <p:cNvGrpSpPr/>
          <p:nvPr/>
        </p:nvGrpSpPr>
        <p:grpSpPr>
          <a:xfrm>
            <a:off x="948235" y="5115753"/>
            <a:ext cx="508158" cy="543805"/>
            <a:chOff x="0" y="0"/>
            <a:chExt cx="812800" cy="869819"/>
          </a:xfrm>
        </p:grpSpPr>
        <p:sp>
          <p:nvSpPr>
            <p:cNvPr id="19" name="Freeform 1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0" name="TextBox 2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1" name="Group 21"/>
          <p:cNvGrpSpPr/>
          <p:nvPr/>
        </p:nvGrpSpPr>
        <p:grpSpPr>
          <a:xfrm>
            <a:off x="948235" y="3776486"/>
            <a:ext cx="508158" cy="543805"/>
            <a:chOff x="0" y="0"/>
            <a:chExt cx="812800" cy="869819"/>
          </a:xfrm>
        </p:grpSpPr>
        <p:sp>
          <p:nvSpPr>
            <p:cNvPr id="22" name="Freeform 2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3" name="TextBox 2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4" name="Group 24"/>
          <p:cNvGrpSpPr/>
          <p:nvPr/>
        </p:nvGrpSpPr>
        <p:grpSpPr>
          <a:xfrm>
            <a:off x="948235" y="6455730"/>
            <a:ext cx="508158" cy="543805"/>
            <a:chOff x="0" y="0"/>
            <a:chExt cx="812800" cy="869819"/>
          </a:xfrm>
        </p:grpSpPr>
        <p:sp>
          <p:nvSpPr>
            <p:cNvPr id="25" name="Freeform 2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6" name="TextBox 2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7" name="Group 27"/>
          <p:cNvGrpSpPr/>
          <p:nvPr/>
        </p:nvGrpSpPr>
        <p:grpSpPr>
          <a:xfrm>
            <a:off x="948235" y="5784877"/>
            <a:ext cx="508158" cy="543805"/>
            <a:chOff x="0" y="0"/>
            <a:chExt cx="812800" cy="869819"/>
          </a:xfrm>
        </p:grpSpPr>
        <p:sp>
          <p:nvSpPr>
            <p:cNvPr id="28" name="Freeform 2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9" name="TextBox 2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48235" y="7123361"/>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48235" y="7790991"/>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2" name="TextBox 1">
            <a:extLst>
              <a:ext uri="{FF2B5EF4-FFF2-40B4-BE49-F238E27FC236}">
                <a16:creationId xmlns:a16="http://schemas.microsoft.com/office/drawing/2014/main" id="{DE796552-E8BF-2718-F921-20F9BAE7EE98}"/>
              </a:ext>
            </a:extLst>
          </p:cNvPr>
          <p:cNvSpPr txBox="1"/>
          <p:nvPr/>
        </p:nvSpPr>
        <p:spPr>
          <a:xfrm>
            <a:off x="152400" y="342900"/>
            <a:ext cx="181356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INTRODUCTION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37E9E58-77B6-079D-9D0D-E380CADAD23D}"/>
              </a:ext>
            </a:extLst>
          </p:cNvPr>
          <p:cNvSpPr txBox="1"/>
          <p:nvPr/>
        </p:nvSpPr>
        <p:spPr>
          <a:xfrm>
            <a:off x="1704035" y="1304519"/>
            <a:ext cx="15082325" cy="13018949"/>
          </a:xfrm>
          <a:prstGeom prst="rect">
            <a:avLst/>
          </a:prstGeom>
          <a:noFill/>
        </p:spPr>
        <p:txBody>
          <a:bodyPr wrap="square" rtlCol="0">
            <a:spAutoFit/>
          </a:bodyPr>
          <a:lstStyle/>
          <a:p>
            <a:endParaRPr lang="en-US" sz="2800" b="1" dirty="0">
              <a:solidFill>
                <a:srgbClr val="0033CC"/>
              </a:solidFill>
            </a:endParaRPr>
          </a:p>
          <a:p>
            <a:endParaRPr lang="en-US" sz="2800" b="1" dirty="0">
              <a:solidFill>
                <a:srgbClr val="0033CC"/>
              </a:solidFill>
            </a:endParaRPr>
          </a:p>
          <a:p>
            <a:r>
              <a:rPr lang="en-US" sz="2800" b="1" dirty="0">
                <a:solidFill>
                  <a:srgbClr val="0033CC"/>
                </a:solidFill>
              </a:rPr>
              <a:t>Background of the problem:</a:t>
            </a:r>
          </a:p>
          <a:p>
            <a:endParaRPr lang="en-US" sz="2800" dirty="0"/>
          </a:p>
          <a:p>
            <a:r>
              <a:rPr lang="en-US" sz="2800" dirty="0"/>
              <a:t>Manual ticket booking systems lack automation and real-time seat management.</a:t>
            </a:r>
            <a:endParaRPr lang="en-IN" sz="2800" dirty="0"/>
          </a:p>
          <a:p>
            <a:endParaRPr lang="en-US" sz="2800" dirty="0"/>
          </a:p>
          <a:p>
            <a:r>
              <a:rPr lang="en-US" sz="2800" b="1" dirty="0">
                <a:solidFill>
                  <a:srgbClr val="0033CC"/>
                </a:solidFill>
              </a:rPr>
              <a:t>Why this project is important:</a:t>
            </a:r>
          </a:p>
          <a:p>
            <a:endParaRPr lang="en-US" sz="2800" dirty="0"/>
          </a:p>
          <a:p>
            <a:r>
              <a:rPr lang="en-US" sz="2800" dirty="0"/>
              <a:t>It simplifies ticket booking and provides instant confirmation with reduced errors.</a:t>
            </a:r>
          </a:p>
          <a:p>
            <a:endParaRPr lang="en-US" sz="2800" b="1" dirty="0"/>
          </a:p>
          <a:p>
            <a:r>
              <a:rPr lang="en-US" sz="2800" b="1" dirty="0">
                <a:solidFill>
                  <a:srgbClr val="0033CC"/>
                </a:solidFill>
              </a:rPr>
              <a:t>Real-world relevance:</a:t>
            </a:r>
          </a:p>
          <a:p>
            <a:endParaRPr lang="en-US" sz="2800" dirty="0"/>
          </a:p>
          <a:p>
            <a:r>
              <a:rPr lang="en-US" sz="2800" dirty="0"/>
              <a:t>Useful for managing departmental events like technical fests, seminars, and workshops.</a:t>
            </a:r>
          </a:p>
          <a:p>
            <a:endParaRPr lang="en-US" sz="2800" dirty="0"/>
          </a:p>
          <a:p>
            <a:r>
              <a:rPr lang="en-US" sz="2800" b="1" dirty="0">
                <a:solidFill>
                  <a:srgbClr val="0033CC"/>
                </a:solidFill>
              </a:rPr>
              <a:t>Brief overview of the system:</a:t>
            </a:r>
          </a:p>
          <a:p>
            <a:endParaRPr lang="en-US" sz="2800" dirty="0"/>
          </a:p>
          <a:p>
            <a:r>
              <a:rPr lang="en-US" sz="2800" dirty="0"/>
              <a:t>Useful for managing departmental events like technical fests, seminars, and workshops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eform 10"/>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11" name="Group 11"/>
          <p:cNvGrpSpPr/>
          <p:nvPr/>
        </p:nvGrpSpPr>
        <p:grpSpPr>
          <a:xfrm>
            <a:off x="709357" y="2648112"/>
            <a:ext cx="992463" cy="992463"/>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3" name="TextBox 13"/>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2</a:t>
              </a:r>
            </a:p>
          </p:txBody>
        </p:sp>
      </p:grpSp>
      <p:grpSp>
        <p:nvGrpSpPr>
          <p:cNvPr id="14" name="Group 14"/>
          <p:cNvGrpSpPr/>
          <p:nvPr/>
        </p:nvGrpSpPr>
        <p:grpSpPr>
          <a:xfrm>
            <a:off x="951509" y="4428296"/>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1982349"/>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0" name="Group 20"/>
          <p:cNvGrpSpPr/>
          <p:nvPr/>
        </p:nvGrpSpPr>
        <p:grpSpPr>
          <a:xfrm>
            <a:off x="951509" y="509405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3" name="Group 23"/>
          <p:cNvGrpSpPr/>
          <p:nvPr/>
        </p:nvGrpSpPr>
        <p:grpSpPr>
          <a:xfrm>
            <a:off x="951509" y="376253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6" name="Group 26"/>
          <p:cNvGrpSpPr/>
          <p:nvPr/>
        </p:nvGrpSpPr>
        <p:grpSpPr>
          <a:xfrm>
            <a:off x="951509" y="6425585"/>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p:cNvGrpSpPr/>
          <p:nvPr/>
        </p:nvGrpSpPr>
        <p:grpSpPr>
          <a:xfrm>
            <a:off x="951509" y="5759822"/>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51509" y="7093216"/>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51509" y="7760846"/>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7" name="TextBox 46">
            <a:extLst>
              <a:ext uri="{FF2B5EF4-FFF2-40B4-BE49-F238E27FC236}">
                <a16:creationId xmlns:a16="http://schemas.microsoft.com/office/drawing/2014/main" id="{A8A7B8E9-D90B-1CF8-14D3-8D2483CAFC5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PROBLEM STATEMENT</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BDE2941C-1504-53F9-99B2-48002CA9A345}"/>
              </a:ext>
            </a:extLst>
          </p:cNvPr>
          <p:cNvSpPr txBox="1"/>
          <p:nvPr/>
        </p:nvSpPr>
        <p:spPr>
          <a:xfrm>
            <a:off x="2209800" y="1638300"/>
            <a:ext cx="15082325" cy="10341293"/>
          </a:xfrm>
          <a:prstGeom prst="rect">
            <a:avLst/>
          </a:prstGeom>
          <a:noFill/>
        </p:spPr>
        <p:txBody>
          <a:bodyPr wrap="square" rtlCol="0">
            <a:spAutoFit/>
          </a:bodyPr>
          <a:lstStyle/>
          <a:p>
            <a:endParaRPr lang="en-US" sz="2800" dirty="0">
              <a:latin typeface="+mj-lt"/>
            </a:endParaRPr>
          </a:p>
          <a:p>
            <a:endParaRPr lang="en-US" sz="2800" dirty="0">
              <a:latin typeface="+mj-lt"/>
            </a:endParaRPr>
          </a:p>
          <a:p>
            <a:pPr algn="just"/>
            <a:r>
              <a:rPr lang="en-US" sz="2800" dirty="0">
                <a:latin typeface="+mj-lt"/>
              </a:rPr>
              <a:t>In many </a:t>
            </a:r>
            <a:r>
              <a:rPr lang="en-US" sz="2800" dirty="0">
                <a:latin typeface="+mj-lt"/>
                <a:cs typeface="Times New Roman" panose="02020603050405020304" pitchFamily="18" charset="0"/>
              </a:rPr>
              <a:t>educational institutions and organizations, ticket booking for internal events such as technical fests, seminars, and workshops, as well as external national-level events like hackathons and summits, is often handled manually or through basic systems that lack proper automation. This creates difficulties in managing participants, tracking ticket availability, and ensuring smooth registration. Manual processes can lead to overbooking, data errors, and delays in confirmation. Additionally, there is no centralized system to monitor bookings, process payments, and generate reports efficiently. Therefore, there is a need for a secure, reliable, and fully automated ticket booking system that allows users to book tickets easily, pay via UPI QR code, receive downloadable PDF tickets with verification QR, and enables administrators to manage events effectively. Such a system improves accuracy, saves time, and enhances the overall event management experience.</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09357" y="3315742"/>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3</a:t>
              </a:r>
            </a:p>
          </p:txBody>
        </p:sp>
      </p:grpSp>
      <p:grpSp>
        <p:nvGrpSpPr>
          <p:cNvPr id="10" name="Group 10"/>
          <p:cNvGrpSpPr/>
          <p:nvPr/>
        </p:nvGrpSpPr>
        <p:grpSpPr>
          <a:xfrm>
            <a:off x="951509" y="4428296"/>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3" name="Group 13"/>
          <p:cNvGrpSpPr/>
          <p:nvPr/>
        </p:nvGrpSpPr>
        <p:grpSpPr>
          <a:xfrm>
            <a:off x="951509"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51509" y="5094059"/>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19" name="Group 19"/>
          <p:cNvGrpSpPr/>
          <p:nvPr/>
        </p:nvGrpSpPr>
        <p:grpSpPr>
          <a:xfrm>
            <a:off x="951509"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51509" y="6425585"/>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5" name="Group 25"/>
          <p:cNvGrpSpPr/>
          <p:nvPr/>
        </p:nvGrpSpPr>
        <p:grpSpPr>
          <a:xfrm>
            <a:off x="951509" y="575982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41" name="Group 41"/>
          <p:cNvGrpSpPr/>
          <p:nvPr/>
        </p:nvGrpSpPr>
        <p:grpSpPr>
          <a:xfrm>
            <a:off x="951509" y="7093216"/>
            <a:ext cx="508158" cy="543805"/>
            <a:chOff x="0" y="0"/>
            <a:chExt cx="812800" cy="869819"/>
          </a:xfrm>
        </p:grpSpPr>
        <p:sp>
          <p:nvSpPr>
            <p:cNvPr id="42" name="Freeform 4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3" name="TextBox 4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4" name="Group 44"/>
          <p:cNvGrpSpPr/>
          <p:nvPr/>
        </p:nvGrpSpPr>
        <p:grpSpPr>
          <a:xfrm>
            <a:off x="951509" y="7760846"/>
            <a:ext cx="508158" cy="543805"/>
            <a:chOff x="0" y="0"/>
            <a:chExt cx="812800" cy="869819"/>
          </a:xfrm>
        </p:grpSpPr>
        <p:sp>
          <p:nvSpPr>
            <p:cNvPr id="45" name="Freeform 4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46" name="TextBox 4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50" name="TextBox 49">
            <a:extLst>
              <a:ext uri="{FF2B5EF4-FFF2-40B4-BE49-F238E27FC236}">
                <a16:creationId xmlns:a16="http://schemas.microsoft.com/office/drawing/2014/main" id="{5B915D36-EE4F-CB45-6DD3-E1B9C803EB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OBJECTIVES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1" name="Freeform 10">
            <a:extLst>
              <a:ext uri="{FF2B5EF4-FFF2-40B4-BE49-F238E27FC236}">
                <a16:creationId xmlns:a16="http://schemas.microsoft.com/office/drawing/2014/main" id="{CC7EEF9B-9155-23B5-AEE9-85067B6C258B}"/>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2" name="Rectangle 1">
            <a:extLst>
              <a:ext uri="{FF2B5EF4-FFF2-40B4-BE49-F238E27FC236}">
                <a16:creationId xmlns:a16="http://schemas.microsoft.com/office/drawing/2014/main" id="{349BAA85-2B3B-96B2-8BD3-CF97C0CC17C5}"/>
              </a:ext>
            </a:extLst>
          </p:cNvPr>
          <p:cNvSpPr>
            <a:spLocks noChangeArrowheads="1"/>
          </p:cNvSpPr>
          <p:nvPr/>
        </p:nvSpPr>
        <p:spPr bwMode="auto">
          <a:xfrm>
            <a:off x="2001253" y="3695032"/>
            <a:ext cx="16070179"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71500" indent="-571500">
              <a:buFont typeface="Wingdings" panose="05000000000000000000" pitchFamily="2" charset="2"/>
              <a:buChar char="Ø"/>
            </a:pPr>
            <a:r>
              <a:rPr lang="en-US" sz="3000" dirty="0">
                <a:latin typeface="+mj-lt"/>
                <a:cs typeface="Times New Roman" panose="02020603050405020304" pitchFamily="18" charset="0"/>
              </a:rPr>
              <a:t> To Design and develop a React JS-based web application for efficient event ticket booking.</a:t>
            </a:r>
          </a:p>
          <a:p>
            <a:endParaRPr lang="en-US" sz="3000" dirty="0">
              <a:latin typeface="+mj-lt"/>
              <a:cs typeface="Times New Roman" panose="02020603050405020304" pitchFamily="18" charset="0"/>
            </a:endParaRPr>
          </a:p>
          <a:p>
            <a:pPr marL="571500" indent="-571500">
              <a:buFont typeface="Wingdings" panose="05000000000000000000" pitchFamily="2" charset="2"/>
              <a:buChar char="Ø"/>
            </a:pPr>
            <a:r>
              <a:rPr lang="en-US" sz="3000" dirty="0">
                <a:latin typeface="+mj-lt"/>
                <a:cs typeface="Times New Roman" panose="02020603050405020304" pitchFamily="18" charset="0"/>
              </a:rPr>
              <a:t>To provide real-time ticket availability and instant booking confirmation.</a:t>
            </a:r>
          </a:p>
          <a:p>
            <a:pPr marL="571500" indent="-571500">
              <a:buFont typeface="Wingdings" panose="05000000000000000000" pitchFamily="2" charset="2"/>
              <a:buChar char="Ø"/>
            </a:pPr>
            <a:endParaRPr lang="en-US" sz="3000" dirty="0">
              <a:latin typeface="+mj-lt"/>
              <a:cs typeface="Times New Roman" panose="02020603050405020304" pitchFamily="18" charset="0"/>
            </a:endParaRPr>
          </a:p>
          <a:p>
            <a:pPr marL="571500" indent="-571500">
              <a:buFont typeface="Wingdings" panose="05000000000000000000" pitchFamily="2" charset="2"/>
              <a:buChar char="Ø"/>
            </a:pPr>
            <a:r>
              <a:rPr lang="en-US" sz="3000" dirty="0">
                <a:latin typeface="+mj-lt"/>
                <a:cs typeface="Times New Roman" panose="02020603050405020304" pitchFamily="18" charset="0"/>
              </a:rPr>
              <a:t>To develop an admin panel for managing events, bookings, and users.</a:t>
            </a:r>
          </a:p>
          <a:p>
            <a:endParaRPr lang="en-US" sz="3000" dirty="0">
              <a:latin typeface="+mj-lt"/>
              <a:cs typeface="Times New Roman" panose="02020603050405020304" pitchFamily="18" charset="0"/>
            </a:endParaRPr>
          </a:p>
          <a:p>
            <a:pPr marL="571500" indent="-571500">
              <a:buFont typeface="Wingdings" panose="05000000000000000000" pitchFamily="2" charset="2"/>
              <a:buChar char="Ø"/>
            </a:pPr>
            <a:r>
              <a:rPr lang="en-US" sz="3000" dirty="0">
                <a:latin typeface="+mj-lt"/>
                <a:cs typeface="Times New Roman" panose="02020603050405020304" pitchFamily="18" charset="0"/>
              </a:rPr>
              <a:t>To integrate UPI QR code payment and generate downloadable PDF tickets with verification QR.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3"/>
          <p:cNvGrpSpPr/>
          <p:nvPr/>
        </p:nvGrpSpPr>
        <p:grpSpPr>
          <a:xfrm>
            <a:off x="709357" y="3983373"/>
            <a:ext cx="992463" cy="992463"/>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4</a:t>
              </a:r>
            </a:p>
          </p:txBody>
        </p:sp>
      </p:grpSp>
      <p:grpSp>
        <p:nvGrpSpPr>
          <p:cNvPr id="16" name="Group 16"/>
          <p:cNvGrpSpPr/>
          <p:nvPr/>
        </p:nvGrpSpPr>
        <p:grpSpPr>
          <a:xfrm>
            <a:off x="951509" y="3315742"/>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9" name="Group 19"/>
          <p:cNvGrpSpPr/>
          <p:nvPr/>
        </p:nvGrpSpPr>
        <p:grpSpPr>
          <a:xfrm>
            <a:off x="951509" y="1982349"/>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2" name="Group 22"/>
          <p:cNvGrpSpPr/>
          <p:nvPr/>
        </p:nvGrpSpPr>
        <p:grpSpPr>
          <a:xfrm>
            <a:off x="951509" y="5094059"/>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5" name="Group 25"/>
          <p:cNvGrpSpPr/>
          <p:nvPr/>
        </p:nvGrpSpPr>
        <p:grpSpPr>
          <a:xfrm>
            <a:off x="951509" y="264811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8" name="Group 28"/>
          <p:cNvGrpSpPr/>
          <p:nvPr/>
        </p:nvGrpSpPr>
        <p:grpSpPr>
          <a:xfrm>
            <a:off x="951509" y="6425585"/>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51509" y="575982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4" name="Group 34"/>
          <p:cNvGrpSpPr/>
          <p:nvPr/>
        </p:nvGrpSpPr>
        <p:grpSpPr>
          <a:xfrm>
            <a:off x="951509" y="7093216"/>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7" name="Group 37"/>
          <p:cNvGrpSpPr/>
          <p:nvPr/>
        </p:nvGrpSpPr>
        <p:grpSpPr>
          <a:xfrm>
            <a:off x="951509" y="776084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5" name="Freeform 10">
            <a:extLst>
              <a:ext uri="{FF2B5EF4-FFF2-40B4-BE49-F238E27FC236}">
                <a16:creationId xmlns:a16="http://schemas.microsoft.com/office/drawing/2014/main" id="{D5D1FD99-C9A7-927E-AD67-E70F11DBAAA2}"/>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6" name="TextBox 45">
            <a:extLst>
              <a:ext uri="{FF2B5EF4-FFF2-40B4-BE49-F238E27FC236}">
                <a16:creationId xmlns:a16="http://schemas.microsoft.com/office/drawing/2014/main" id="{E7218D14-8F44-8040-8BFD-49A59591F527}"/>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E8F19716-1653-9AE0-442E-B3829A585B46}"/>
              </a:ext>
            </a:extLst>
          </p:cNvPr>
          <p:cNvSpPr txBox="1"/>
          <p:nvPr/>
        </p:nvSpPr>
        <p:spPr>
          <a:xfrm>
            <a:off x="1570676" y="1501974"/>
            <a:ext cx="16292949" cy="11726287"/>
          </a:xfrm>
          <a:prstGeom prst="rect">
            <a:avLst/>
          </a:prstGeom>
          <a:noFill/>
        </p:spPr>
        <p:txBody>
          <a:bodyPr wrap="square" rtlCol="0">
            <a:spAutoFit/>
          </a:bodyPr>
          <a:lstStyle/>
          <a:p>
            <a:pPr lvl="1"/>
            <a:r>
              <a:rPr lang="en-US" sz="2800" dirty="0"/>
              <a:t>1.The proposed system is a React JS-based web application for managing event ticket booking in a single platform.</a:t>
            </a:r>
          </a:p>
          <a:p>
            <a:pPr lvl="1"/>
            <a:endParaRPr lang="en-US" sz="2800" dirty="0"/>
          </a:p>
          <a:p>
            <a:pPr marL="457200" indent="-457200">
              <a:buFontTx/>
              <a:buChar char="-"/>
            </a:pPr>
            <a:r>
              <a:rPr lang="en-US" sz="2800" dirty="0"/>
              <a:t>2. It allows users to register, view events, and book tickets.</a:t>
            </a:r>
          </a:p>
          <a:p>
            <a:pPr marL="457200" indent="-457200">
              <a:buFontTx/>
              <a:buChar char="-"/>
            </a:pPr>
            <a:endParaRPr lang="en-US" sz="2800" dirty="0"/>
          </a:p>
          <a:p>
            <a:pPr marL="457200" indent="-457200">
              <a:buFontTx/>
              <a:buChar char="-"/>
            </a:pPr>
            <a:r>
              <a:rPr lang="en-US" sz="2800" dirty="0"/>
              <a:t>3. Admin can create, edit, delete events and manage 30+ internal and external events.</a:t>
            </a:r>
          </a:p>
          <a:p>
            <a:pPr marL="457200" indent="-457200">
              <a:buFontTx/>
              <a:buChar char="-"/>
            </a:pPr>
            <a:endParaRPr lang="en-US" sz="2800" dirty="0"/>
          </a:p>
          <a:p>
            <a:pPr marL="457200" indent="-457200">
              <a:buFontTx/>
              <a:buChar char="-"/>
            </a:pPr>
            <a:r>
              <a:rPr lang="en-US" sz="2800" dirty="0"/>
              <a:t>4. It provides real-time ticket availability and instant booking confirmation.</a:t>
            </a:r>
          </a:p>
          <a:p>
            <a:pPr marL="457200" indent="-457200">
              <a:buFontTx/>
              <a:buChar char="-"/>
            </a:pPr>
            <a:endParaRPr lang="en-US" sz="2800" dirty="0"/>
          </a:p>
          <a:p>
            <a:pPr marL="457200" indent="-457200">
              <a:buFontTx/>
              <a:buChar char="-"/>
            </a:pPr>
            <a:r>
              <a:rPr lang="en-US" sz="2800" dirty="0"/>
              <a:t>5. The system stores booking details securely and generates reports.</a:t>
            </a:r>
          </a:p>
          <a:p>
            <a:pPr marL="457200" indent="-457200">
              <a:buFontTx/>
              <a:buChar char="-"/>
            </a:pPr>
            <a:endParaRPr lang="en-US" sz="2800" dirty="0"/>
          </a:p>
          <a:p>
            <a:pPr marL="457200" indent="-457200">
              <a:buFontTx/>
              <a:buChar char="-"/>
            </a:pPr>
            <a:r>
              <a:rPr lang="en-US" sz="2800" dirty="0"/>
              <a:t>6. It reduces manual work and saves time.</a:t>
            </a:r>
          </a:p>
          <a:p>
            <a:pPr marL="457200" indent="-457200">
              <a:buFontTx/>
              <a:buChar char="-"/>
            </a:pPr>
            <a:endParaRPr lang="en-US" sz="2800" dirty="0"/>
          </a:p>
          <a:p>
            <a:pPr marL="457200" indent="-457200">
              <a:buFontTx/>
              <a:buChar char="-"/>
            </a:pPr>
            <a:r>
              <a:rPr lang="en-US" sz="2800" dirty="0"/>
              <a:t>7. It generates UPI QR code for exact ticket amount and allows PDF ticket download with verification QR.</a:t>
            </a:r>
          </a:p>
          <a:p>
            <a:pPr marL="457200" indent="-457200">
              <a:buFontTx/>
              <a:buChar char="-"/>
            </a:pPr>
            <a:endParaRPr lang="en-US" sz="2800" dirty="0"/>
          </a:p>
          <a:p>
            <a:pPr marL="457200" indent="-457200">
              <a:buFontTx/>
              <a:buChar char="-"/>
            </a:pPr>
            <a:r>
              <a:rPr lang="en-US" sz="2800" dirty="0"/>
              <a:t>8. It is faster and more efficient than manual systems.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709357" y="4655766"/>
            <a:ext cx="992463" cy="99246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5</a:t>
              </a:r>
            </a:p>
          </p:txBody>
        </p:sp>
      </p:grpSp>
      <p:grpSp>
        <p:nvGrpSpPr>
          <p:cNvPr id="8" name="Group 8"/>
          <p:cNvGrpSpPr/>
          <p:nvPr/>
        </p:nvGrpSpPr>
        <p:grpSpPr>
          <a:xfrm>
            <a:off x="951509" y="3320505"/>
            <a:ext cx="508158" cy="543805"/>
            <a:chOff x="0" y="0"/>
            <a:chExt cx="812800" cy="869819"/>
          </a:xfrm>
        </p:grpSpPr>
        <p:sp>
          <p:nvSpPr>
            <p:cNvPr id="9" name="Freeform 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p:cNvGrpSpPr/>
          <p:nvPr/>
        </p:nvGrpSpPr>
        <p:grpSpPr>
          <a:xfrm>
            <a:off x="951509" y="1987111"/>
            <a:ext cx="508158" cy="543805"/>
            <a:chOff x="0" y="0"/>
            <a:chExt cx="812800" cy="869819"/>
          </a:xfrm>
        </p:grpSpPr>
        <p:sp>
          <p:nvSpPr>
            <p:cNvPr id="12" name="Freeform 1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p:cNvGrpSpPr/>
          <p:nvPr/>
        </p:nvGrpSpPr>
        <p:grpSpPr>
          <a:xfrm>
            <a:off x="951509" y="3988135"/>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2652874"/>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p:cNvGrpSpPr/>
          <p:nvPr/>
        </p:nvGrpSpPr>
        <p:grpSpPr>
          <a:xfrm>
            <a:off x="951509" y="6430348"/>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3" name="Group 23"/>
          <p:cNvGrpSpPr/>
          <p:nvPr/>
        </p:nvGrpSpPr>
        <p:grpSpPr>
          <a:xfrm>
            <a:off x="951509" y="5764584"/>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6" name="Group 26"/>
          <p:cNvGrpSpPr/>
          <p:nvPr/>
        </p:nvGrpSpPr>
        <p:grpSpPr>
          <a:xfrm>
            <a:off x="951509" y="7088453"/>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29" name="Group 29"/>
          <p:cNvGrpSpPr/>
          <p:nvPr/>
        </p:nvGrpSpPr>
        <p:grpSpPr>
          <a:xfrm>
            <a:off x="951509" y="7756083"/>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grpSp>
        <p:nvGrpSpPr>
          <p:cNvPr id="37" name="Group 37"/>
          <p:cNvGrpSpPr/>
          <p:nvPr/>
        </p:nvGrpSpPr>
        <p:grpSpPr>
          <a:xfrm>
            <a:off x="11762088" y="-9632634"/>
            <a:ext cx="10994424" cy="10994424"/>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9" name="TextBox 39"/>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1" name="Freeform 10">
            <a:extLst>
              <a:ext uri="{FF2B5EF4-FFF2-40B4-BE49-F238E27FC236}">
                <a16:creationId xmlns:a16="http://schemas.microsoft.com/office/drawing/2014/main" id="{01BC0C31-7FCD-94EE-8B85-19FBC227565C}"/>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2" name="TextBox 41">
            <a:extLst>
              <a:ext uri="{FF2B5EF4-FFF2-40B4-BE49-F238E27FC236}">
                <a16:creationId xmlns:a16="http://schemas.microsoft.com/office/drawing/2014/main" id="{A4B3B85F-0C7B-16B9-6D50-94A4DFD2D192}"/>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 ARCHITECTURE</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3" name="TextBox 42">
            <a:extLst>
              <a:ext uri="{FF2B5EF4-FFF2-40B4-BE49-F238E27FC236}">
                <a16:creationId xmlns:a16="http://schemas.microsoft.com/office/drawing/2014/main" id="{25F9D4B0-38FE-DBA4-164D-1745B68379A5}"/>
              </a:ext>
            </a:extLst>
          </p:cNvPr>
          <p:cNvSpPr txBox="1"/>
          <p:nvPr/>
        </p:nvSpPr>
        <p:spPr>
          <a:xfrm>
            <a:off x="2374972" y="2117811"/>
            <a:ext cx="15082325" cy="5262979"/>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44" name="Picture 43" descr="arch_v3.png"/>
          <p:cNvPicPr>
            <a:picLocks noChangeAspect="1"/>
          </p:cNvPicPr>
          <p:nvPr/>
        </p:nvPicPr>
        <p:blipFill>
          <a:blip r:embed="rId3"/>
          <a:stretch>
            <a:fillRect/>
          </a:stretch>
        </p:blipFill>
        <p:spPr>
          <a:xfrm>
            <a:off x="2269896" y="1741461"/>
            <a:ext cx="14611350" cy="76350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4"/>
          <p:cNvGrpSpPr/>
          <p:nvPr/>
        </p:nvGrpSpPr>
        <p:grpSpPr>
          <a:xfrm>
            <a:off x="735588" y="5318634"/>
            <a:ext cx="992463" cy="992463"/>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6" name="TextBox 16"/>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6</a:t>
              </a:r>
            </a:p>
          </p:txBody>
        </p:sp>
      </p:grpSp>
      <p:grpSp>
        <p:nvGrpSpPr>
          <p:cNvPr id="17" name="Group 17"/>
          <p:cNvGrpSpPr/>
          <p:nvPr/>
        </p:nvGrpSpPr>
        <p:grpSpPr>
          <a:xfrm>
            <a:off x="977741" y="3315742"/>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0" name="Group 20"/>
          <p:cNvGrpSpPr/>
          <p:nvPr/>
        </p:nvGrpSpPr>
        <p:grpSpPr>
          <a:xfrm>
            <a:off x="977741" y="198234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3" name="Group 23"/>
          <p:cNvGrpSpPr/>
          <p:nvPr/>
        </p:nvGrpSpPr>
        <p:grpSpPr>
          <a:xfrm>
            <a:off x="977741" y="398337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26" name="Group 26"/>
          <p:cNvGrpSpPr/>
          <p:nvPr/>
        </p:nvGrpSpPr>
        <p:grpSpPr>
          <a:xfrm>
            <a:off x="977741" y="2648112"/>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9" name="Group 29"/>
          <p:cNvGrpSpPr/>
          <p:nvPr/>
        </p:nvGrpSpPr>
        <p:grpSpPr>
          <a:xfrm>
            <a:off x="977741" y="6425585"/>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2" name="Group 32"/>
          <p:cNvGrpSpPr/>
          <p:nvPr/>
        </p:nvGrpSpPr>
        <p:grpSpPr>
          <a:xfrm>
            <a:off x="977741" y="4651003"/>
            <a:ext cx="508158" cy="543805"/>
            <a:chOff x="0" y="0"/>
            <a:chExt cx="812800" cy="869819"/>
          </a:xfrm>
        </p:grpSpPr>
        <p:sp>
          <p:nvSpPr>
            <p:cNvPr id="33" name="Freeform 3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4" name="TextBox 3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37" name="Group 37"/>
          <p:cNvGrpSpPr/>
          <p:nvPr/>
        </p:nvGrpSpPr>
        <p:grpSpPr>
          <a:xfrm>
            <a:off x="977741" y="709321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0" name="Group 40"/>
          <p:cNvGrpSpPr/>
          <p:nvPr/>
        </p:nvGrpSpPr>
        <p:grpSpPr>
          <a:xfrm>
            <a:off x="977741" y="776084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663A130-069F-2D83-78E7-4DA0FE7AAC6E}"/>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7" name="TextBox 46">
            <a:extLst>
              <a:ext uri="{FF2B5EF4-FFF2-40B4-BE49-F238E27FC236}">
                <a16:creationId xmlns:a16="http://schemas.microsoft.com/office/drawing/2014/main" id="{1B156733-A733-69AA-7523-59650E125994}"/>
              </a:ext>
            </a:extLst>
          </p:cNvPr>
          <p:cNvSpPr txBox="1"/>
          <p:nvPr/>
        </p:nvSpPr>
        <p:spPr>
          <a:xfrm>
            <a:off x="190500" y="315938"/>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WORKFLOW</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D04F3B99-A5D2-54DC-51CD-4E86A99D3EA2}"/>
              </a:ext>
            </a:extLst>
          </p:cNvPr>
          <p:cNvSpPr txBox="1"/>
          <p:nvPr/>
        </p:nvSpPr>
        <p:spPr>
          <a:xfrm>
            <a:off x="2209800" y="1638300"/>
            <a:ext cx="15082325" cy="4832092"/>
          </a:xfrm>
          <a:prstGeom prst="rect">
            <a:avLst/>
          </a:prstGeom>
          <a:noFill/>
        </p:spPr>
        <p:txBody>
          <a:bodyPr wrap="square" rtlCol="0">
            <a:spAutoFit/>
          </a:bodyPr>
          <a:lstStyle/>
          <a:p>
            <a:endParaRPr lang="en-US" sz="2800" dirty="0"/>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51" name="Picture 50" descr="workflow_diagram.png"/>
          <p:cNvPicPr>
            <a:picLocks noChangeAspect="1"/>
          </p:cNvPicPr>
          <p:nvPr/>
        </p:nvPicPr>
        <p:blipFill>
          <a:blip r:embed="rId3"/>
          <a:stretch>
            <a:fillRect/>
          </a:stretch>
        </p:blipFill>
        <p:spPr>
          <a:xfrm>
            <a:off x="2451952" y="1638300"/>
            <a:ext cx="14807347" cy="7429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9"/>
          <p:cNvGrpSpPr/>
          <p:nvPr/>
        </p:nvGrpSpPr>
        <p:grpSpPr>
          <a:xfrm>
            <a:off x="735588" y="5976927"/>
            <a:ext cx="992463" cy="992463"/>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21" name="TextBox 2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7</a:t>
              </a:r>
            </a:p>
          </p:txBody>
        </p:sp>
      </p:grpSp>
      <p:grpSp>
        <p:nvGrpSpPr>
          <p:cNvPr id="22" name="Group 22"/>
          <p:cNvGrpSpPr/>
          <p:nvPr/>
        </p:nvGrpSpPr>
        <p:grpSpPr>
          <a:xfrm>
            <a:off x="977741" y="3315742"/>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5" name="Group 25"/>
          <p:cNvGrpSpPr/>
          <p:nvPr/>
        </p:nvGrpSpPr>
        <p:grpSpPr>
          <a:xfrm>
            <a:off x="977741" y="1982349"/>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8" name="Group 28"/>
          <p:cNvGrpSpPr/>
          <p:nvPr/>
        </p:nvGrpSpPr>
        <p:grpSpPr>
          <a:xfrm>
            <a:off x="977741" y="3983373"/>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31" name="Group 31"/>
          <p:cNvGrpSpPr/>
          <p:nvPr/>
        </p:nvGrpSpPr>
        <p:grpSpPr>
          <a:xfrm>
            <a:off x="977741" y="264811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34" name="Group 34"/>
          <p:cNvGrpSpPr/>
          <p:nvPr/>
        </p:nvGrpSpPr>
        <p:grpSpPr>
          <a:xfrm>
            <a:off x="977741" y="5318634"/>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7" name="Group 37"/>
          <p:cNvGrpSpPr/>
          <p:nvPr/>
        </p:nvGrpSpPr>
        <p:grpSpPr>
          <a:xfrm>
            <a:off x="977741" y="4651003"/>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40" name="Group 40"/>
          <p:cNvGrpSpPr/>
          <p:nvPr/>
        </p:nvGrpSpPr>
        <p:grpSpPr>
          <a:xfrm>
            <a:off x="977741" y="709321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3" name="Group 43"/>
          <p:cNvGrpSpPr/>
          <p:nvPr/>
        </p:nvGrpSpPr>
        <p:grpSpPr>
          <a:xfrm>
            <a:off x="977741" y="7760846"/>
            <a:ext cx="508158" cy="543805"/>
            <a:chOff x="0" y="0"/>
            <a:chExt cx="812800" cy="869819"/>
          </a:xfrm>
        </p:grpSpPr>
        <p:sp>
          <p:nvSpPr>
            <p:cNvPr id="44" name="Freeform 4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5" name="TextBox 4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07389F6-23D0-83F6-DD02-F20D61DADE76}"/>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7" name="TextBox 46">
            <a:extLst>
              <a:ext uri="{FF2B5EF4-FFF2-40B4-BE49-F238E27FC236}">
                <a16:creationId xmlns:a16="http://schemas.microsoft.com/office/drawing/2014/main" id="{E4ED097B-FECF-66E6-2A98-0F8B4D948FC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TECHNOLOGIES USED</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26E9F5F9-CCF8-6F05-4C01-034C88D7529E}"/>
              </a:ext>
            </a:extLst>
          </p:cNvPr>
          <p:cNvSpPr txBox="1"/>
          <p:nvPr/>
        </p:nvSpPr>
        <p:spPr>
          <a:xfrm>
            <a:off x="2209800" y="1638300"/>
            <a:ext cx="15082325" cy="15604272"/>
          </a:xfrm>
          <a:prstGeom prst="rect">
            <a:avLst/>
          </a:prstGeom>
          <a:noFill/>
        </p:spPr>
        <p:txBody>
          <a:bodyPr wrap="square" rtlCol="0">
            <a:spAutoFit/>
          </a:bodyPr>
          <a:lstStyle/>
          <a:p>
            <a:r>
              <a:rPr lang="en-US" sz="2800" dirty="0">
                <a:solidFill>
                  <a:srgbClr val="0033CC"/>
                </a:solidFill>
              </a:rPr>
              <a:t>Frontend:</a:t>
            </a:r>
          </a:p>
          <a:p>
            <a:endParaRPr lang="en-US" sz="2800" dirty="0">
              <a:solidFill>
                <a:srgbClr val="0033CC"/>
              </a:solidFill>
            </a:endParaRPr>
          </a:p>
          <a:p>
            <a:r>
              <a:rPr lang="en-US" sz="2800" dirty="0"/>
              <a:t>1.HTML5</a:t>
            </a:r>
          </a:p>
          <a:p>
            <a:r>
              <a:rPr lang="en-US" sz="2800" dirty="0"/>
              <a:t>2.CSS3</a:t>
            </a:r>
          </a:p>
          <a:p>
            <a:r>
              <a:rPr lang="en-US" sz="2800" dirty="0"/>
              <a:t>3.Javascript</a:t>
            </a:r>
          </a:p>
          <a:p>
            <a:r>
              <a:rPr lang="en-US" sz="2800" dirty="0"/>
              <a:t>4.React JS</a:t>
            </a:r>
          </a:p>
          <a:p>
            <a:endParaRPr lang="en-US" sz="2800" dirty="0"/>
          </a:p>
          <a:p>
            <a:r>
              <a:rPr lang="en-US" sz="2800" dirty="0">
                <a:solidFill>
                  <a:srgbClr val="0033CC"/>
                </a:solidFill>
              </a:rPr>
              <a:t>Backend:</a:t>
            </a:r>
          </a:p>
          <a:p>
            <a:endParaRPr lang="en-US" sz="2800" dirty="0">
              <a:solidFill>
                <a:srgbClr val="0033CC"/>
              </a:solidFill>
            </a:endParaRPr>
          </a:p>
          <a:p>
            <a:r>
              <a:rPr lang="en-US" sz="2800" dirty="0"/>
              <a:t>1.Node.js</a:t>
            </a:r>
          </a:p>
          <a:p>
            <a:r>
              <a:rPr lang="en-US" sz="2800" dirty="0"/>
              <a:t>2.Express.js</a:t>
            </a:r>
          </a:p>
          <a:p>
            <a:endParaRPr lang="en-US" sz="2800" dirty="0"/>
          </a:p>
          <a:p>
            <a:r>
              <a:rPr lang="en-US" sz="2800" dirty="0">
                <a:solidFill>
                  <a:srgbClr val="0033CC"/>
                </a:solidFill>
              </a:rPr>
              <a:t> Data Base / Tools:</a:t>
            </a:r>
          </a:p>
          <a:p>
            <a:endParaRPr lang="en-US" sz="2800" dirty="0"/>
          </a:p>
          <a:p>
            <a:r>
              <a:rPr lang="en-US" sz="2800" dirty="0"/>
              <a:t>1.MySQL 8.0</a:t>
            </a:r>
          </a:p>
          <a:p>
            <a:r>
              <a:rPr lang="en-US" sz="2800" dirty="0"/>
              <a:t>2.MySQL Workbench</a:t>
            </a:r>
          </a:p>
          <a:p>
            <a:r>
              <a:rPr lang="en-US" sz="2800" dirty="0"/>
              <a:t>3.Axios, QRCode, jsPDF</a:t>
            </a:r>
          </a:p>
          <a:p>
            <a:endParaRPr lang="en-US" sz="2800" dirty="0"/>
          </a:p>
          <a:p>
            <a:endParaRPr lang="en-US" sz="2800" dirty="0"/>
          </a:p>
          <a:p>
            <a:endParaRPr lang="en-US" sz="2800" dirty="0"/>
          </a:p>
          <a:p>
            <a:r>
              <a:rPr lang="en-US" sz="2800" dirty="0"/>
              <a:t>1.Windows / Mac </a:t>
            </a:r>
          </a:p>
          <a:p>
            <a:r>
              <a:rPr lang="en-US" sz="2800" dirty="0"/>
              <a:t>2. Web Browser</a:t>
            </a:r>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7"/>
          <p:cNvGrpSpPr/>
          <p:nvPr/>
        </p:nvGrpSpPr>
        <p:grpSpPr>
          <a:xfrm>
            <a:off x="735588" y="6653894"/>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8</a:t>
              </a:r>
            </a:p>
          </p:txBody>
        </p:sp>
      </p:grpSp>
      <p:grpSp>
        <p:nvGrpSpPr>
          <p:cNvPr id="10" name="Group 10"/>
          <p:cNvGrpSpPr/>
          <p:nvPr/>
        </p:nvGrpSpPr>
        <p:grpSpPr>
          <a:xfrm>
            <a:off x="977741" y="3315742"/>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p:cNvGrpSpPr/>
          <p:nvPr/>
        </p:nvGrpSpPr>
        <p:grpSpPr>
          <a:xfrm>
            <a:off x="977741"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77741" y="3983373"/>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p:cNvGrpSpPr/>
          <p:nvPr/>
        </p:nvGrpSpPr>
        <p:grpSpPr>
          <a:xfrm>
            <a:off x="977741"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77741" y="5318634"/>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p:cNvGrpSpPr/>
          <p:nvPr/>
        </p:nvGrpSpPr>
        <p:grpSpPr>
          <a:xfrm>
            <a:off x="977741" y="4651003"/>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p:cNvGrpSpPr/>
          <p:nvPr/>
        </p:nvGrpSpPr>
        <p:grpSpPr>
          <a:xfrm>
            <a:off x="977741" y="5986264"/>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77741" y="7760846"/>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5" name="Group 35"/>
          <p:cNvGrpSpPr/>
          <p:nvPr/>
        </p:nvGrpSpPr>
        <p:grpSpPr>
          <a:xfrm>
            <a:off x="17170670" y="-178579"/>
            <a:ext cx="10994424" cy="10994424"/>
            <a:chOff x="0" y="0"/>
            <a:chExt cx="812800" cy="812800"/>
          </a:xfrm>
        </p:grpSpPr>
        <p:sp>
          <p:nvSpPr>
            <p:cNvPr id="36" name="Freeform 3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A1BCE7C-890E-A01E-691E-1D3D07CF6333}"/>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MODULE DESCRIPTION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9304C197-EAC7-7A26-FAED-ED7302DBEC6E}"/>
              </a:ext>
            </a:extLst>
          </p:cNvPr>
          <p:cNvSpPr txBox="1"/>
          <p:nvPr/>
        </p:nvSpPr>
        <p:spPr>
          <a:xfrm>
            <a:off x="2209800" y="1638300"/>
            <a:ext cx="15082325" cy="7417415"/>
          </a:xfrm>
          <a:prstGeom prst="rect">
            <a:avLst/>
          </a:prstGeom>
          <a:noFill/>
        </p:spPr>
        <p:txBody>
          <a:bodyPr wrap="square" rtlCol="0">
            <a:spAutoFit/>
          </a:bodyPr>
          <a:lstStyle/>
          <a:p>
            <a:endParaRPr lang="en-IN" sz="2800" b="1" dirty="0"/>
          </a:p>
          <a:p>
            <a:r>
              <a:rPr lang="en-IN" sz="2800" b="1" dirty="0"/>
              <a:t>Module 1: User Management</a:t>
            </a:r>
          </a:p>
          <a:p>
            <a:r>
              <a:rPr lang="en-US" sz="2800" dirty="0"/>
              <a:t>Handles user registration, login, and profile management with secure authentication.</a:t>
            </a:r>
            <a:endParaRPr lang="en-IN" sz="2800" dirty="0"/>
          </a:p>
          <a:p>
            <a:endParaRPr lang="en-IN" sz="2800" dirty="0"/>
          </a:p>
          <a:p>
            <a:r>
              <a:rPr lang="en-IN" sz="2800" b="1" dirty="0"/>
              <a:t>Module 2: Event Management</a:t>
            </a:r>
          </a:p>
          <a:p>
            <a:r>
              <a:rPr lang="en-US" sz="2800" dirty="0"/>
              <a:t>Allows admin to add, edit, delete events, manage seat count, pricing, dates and UPI payment settings.</a:t>
            </a:r>
            <a:endParaRPr lang="en-IN" sz="2800" dirty="0"/>
          </a:p>
          <a:p>
            <a:endParaRPr lang="en-IN" sz="2800" dirty="0"/>
          </a:p>
          <a:p>
            <a:r>
              <a:rPr lang="en-IN" sz="2800" b="1" dirty="0"/>
              <a:t>Module 3: Ticket Booking</a:t>
            </a:r>
          </a:p>
          <a:p>
            <a:r>
              <a:rPr lang="en-US" sz="2800" dirty="0"/>
              <a:t>Enables users to view events, select tickets, and complete the booking process.</a:t>
            </a:r>
            <a:endParaRPr lang="en-IN" sz="2800" dirty="0"/>
          </a:p>
          <a:p>
            <a:endParaRPr lang="en-IN" sz="2800" dirty="0"/>
          </a:p>
          <a:p>
            <a:r>
              <a:rPr lang="en-IN" sz="2800" b="1" dirty="0"/>
              <a:t>Module 4: Booking Confirmation</a:t>
            </a:r>
          </a:p>
          <a:p>
            <a:r>
              <a:rPr lang="en-US" sz="2800" dirty="0"/>
              <a:t>Generates booking confirmation with a unique verification QR code and allows users to download ticket as PDF.</a:t>
            </a:r>
            <a:endParaRPr lang="en-IN" sz="2800" dirty="0"/>
          </a:p>
          <a:p>
            <a:endParaRPr lang="en-IN" sz="2800" dirty="0"/>
          </a:p>
          <a:p>
            <a:endParaRPr lang="en-IN" sz="2800" dirty="0"/>
          </a:p>
          <a:p>
            <a:endParaRPr lang="en-IN" sz="2800" dirty="0"/>
          </a:p>
          <a:p>
            <a:endParaRPr lang="en-IN" sz="2800" dirty="0"/>
          </a:p>
          <a:p>
            <a:endParaRPr lang="en-IN"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E0BFBA1B-7EE7-47B6-41F3-C4B61A979F6F}"/>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D8CD5C70-566B-9213-9F31-546BB621CCAF}"/>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7EBAE7EB-82E8-3AF5-3C43-EA7688F732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txBody>
            <a:bodyPr/>
            <a:lstStyle/>
            <a:p>
              <a:endParaRPr lang="en-IN"/>
            </a:p>
          </p:txBody>
        </p:sp>
        <p:sp>
          <p:nvSpPr>
            <p:cNvPr id="9" name="TextBox 9">
              <a:extLst>
                <a:ext uri="{FF2B5EF4-FFF2-40B4-BE49-F238E27FC236}">
                  <a16:creationId xmlns:a16="http://schemas.microsoft.com/office/drawing/2014/main" id="{5294143A-C171-B89D-02DF-136CB32B43C9}"/>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t>
              </a:r>
            </a:p>
          </p:txBody>
        </p:sp>
      </p:grpSp>
      <p:grpSp>
        <p:nvGrpSpPr>
          <p:cNvPr id="10" name="Group 10">
            <a:extLst>
              <a:ext uri="{FF2B5EF4-FFF2-40B4-BE49-F238E27FC236}">
                <a16:creationId xmlns:a16="http://schemas.microsoft.com/office/drawing/2014/main" id="{811A371D-2A07-AABC-E66C-143D37E0F12C}"/>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2F7BDC7D-6911-7D85-E73A-2061DE32440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2" name="TextBox 12">
              <a:extLst>
                <a:ext uri="{FF2B5EF4-FFF2-40B4-BE49-F238E27FC236}">
                  <a16:creationId xmlns:a16="http://schemas.microsoft.com/office/drawing/2014/main" id="{6DEA2241-E6A3-8051-F424-21070A5DF29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4DD3D6A9-1C97-9943-C984-B50356BAE3FF}"/>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6BB1489C-F4F8-D62E-3AD9-3CAA028A426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5" name="TextBox 15">
              <a:extLst>
                <a:ext uri="{FF2B5EF4-FFF2-40B4-BE49-F238E27FC236}">
                  <a16:creationId xmlns:a16="http://schemas.microsoft.com/office/drawing/2014/main" id="{A4A64A6E-EA7C-DFF0-C280-5041CD8B135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BE5FF856-5043-C428-B45A-4C00BF9D3418}"/>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CFC7AF72-B76A-8AD8-7E70-BDE8837D662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18" name="TextBox 18">
              <a:extLst>
                <a:ext uri="{FF2B5EF4-FFF2-40B4-BE49-F238E27FC236}">
                  <a16:creationId xmlns:a16="http://schemas.microsoft.com/office/drawing/2014/main" id="{F6C277EF-EDEF-0F79-B4B2-AB1B3E58301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A32CD2C6-1D06-729E-1157-B2EAAEA172A4}"/>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A222D7EA-F7CE-B4F5-4D06-02860C5AC3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1" name="TextBox 21">
              <a:extLst>
                <a:ext uri="{FF2B5EF4-FFF2-40B4-BE49-F238E27FC236}">
                  <a16:creationId xmlns:a16="http://schemas.microsoft.com/office/drawing/2014/main" id="{17F695A3-7B3D-00FE-26D6-E53B473BCF1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5A8D3527-DD17-232E-3ECB-BDBFC0FF3DE7}"/>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1C3EBC87-5F86-657B-5C0D-7DFFB3C4281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4" name="TextBox 24">
              <a:extLst>
                <a:ext uri="{FF2B5EF4-FFF2-40B4-BE49-F238E27FC236}">
                  <a16:creationId xmlns:a16="http://schemas.microsoft.com/office/drawing/2014/main" id="{5638183B-03CC-91E5-1C67-EAD126FB6DA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8C4C8B82-0B52-9912-DBAF-71546B2F401E}"/>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371F41C0-C399-6E94-B393-623F6ED78C3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27" name="TextBox 27">
              <a:extLst>
                <a:ext uri="{FF2B5EF4-FFF2-40B4-BE49-F238E27FC236}">
                  <a16:creationId xmlns:a16="http://schemas.microsoft.com/office/drawing/2014/main" id="{05375A05-CD15-FECF-CF37-72BD8B495C3C}"/>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FFA9D0CA-D989-1DF0-9CD9-7BB1BF37D00D}"/>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6D72D40E-C3C8-1774-56F7-396EA1F546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0" name="TextBox 30">
              <a:extLst>
                <a:ext uri="{FF2B5EF4-FFF2-40B4-BE49-F238E27FC236}">
                  <a16:creationId xmlns:a16="http://schemas.microsoft.com/office/drawing/2014/main" id="{2A94558C-EEEF-6159-C648-7ED1F2545B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A8A0868D-7450-B2DC-5A6A-A607E39122E3}"/>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27C0AD0-E7DC-50B1-90B8-A6B2DA72DDA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txBody>
            <a:bodyPr/>
            <a:lstStyle/>
            <a:p>
              <a:endParaRPr lang="en-IN"/>
            </a:p>
          </p:txBody>
        </p:sp>
        <p:sp>
          <p:nvSpPr>
            <p:cNvPr id="33" name="TextBox 33">
              <a:extLst>
                <a:ext uri="{FF2B5EF4-FFF2-40B4-BE49-F238E27FC236}">
                  <a16:creationId xmlns:a16="http://schemas.microsoft.com/office/drawing/2014/main" id="{9B60539C-7696-ACA6-9070-BC481578187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0A2A8C1-A254-99B6-B7B0-C5A8A5BB008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43" name="TextBox 42">
            <a:extLst>
              <a:ext uri="{FF2B5EF4-FFF2-40B4-BE49-F238E27FC236}">
                <a16:creationId xmlns:a16="http://schemas.microsoft.com/office/drawing/2014/main" id="{35C6402D-9C63-51C1-99A9-4206C05377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pic>
        <p:nvPicPr>
          <p:cNvPr id="3" name="Picture 2" descr="The image displays a dark purple background with a login interface, featuring fields for email and password, and options for signing up or admin login.&#10;&#10;AI-generated content may be incorrect.">
            <a:extLst>
              <a:ext uri="{FF2B5EF4-FFF2-40B4-BE49-F238E27FC236}">
                <a16:creationId xmlns:a16="http://schemas.microsoft.com/office/drawing/2014/main" id="{25635987-0418-6A64-6A8F-3BB4D4750673}"/>
              </a:ext>
            </a:extLst>
          </p:cNvPr>
          <p:cNvPicPr>
            <a:picLocks noChangeAspect="1"/>
          </p:cNvPicPr>
          <p:nvPr/>
        </p:nvPicPr>
        <p:blipFill>
          <a:blip r:embed="rId3"/>
          <a:stretch>
            <a:fillRect/>
          </a:stretch>
        </p:blipFill>
        <p:spPr>
          <a:xfrm>
            <a:off x="2209800" y="1714118"/>
            <a:ext cx="14456393" cy="7734970"/>
          </a:xfrm>
          <a:prstGeom prst="rect">
            <a:avLst/>
          </a:prstGeom>
        </p:spPr>
      </p:pic>
    </p:spTree>
    <p:extLst>
      <p:ext uri="{BB962C8B-B14F-4D97-AF65-F5344CB8AC3E}">
        <p14:creationId xmlns:p14="http://schemas.microsoft.com/office/powerpoint/2010/main" val="1998101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FBA1B-7EE7-47B6-41F3-C4B61A979F6F}"/>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D8CD5C70-566B-9213-9F31-546BB621CCAF}"/>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7EBAE7EB-82E8-3AF5-3C43-EA7688F732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5294143A-C171-B89D-02DF-136CB32B43C9}"/>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t>
              </a:r>
            </a:p>
          </p:txBody>
        </p:sp>
      </p:grpSp>
      <p:grpSp>
        <p:nvGrpSpPr>
          <p:cNvPr id="10" name="Group 10">
            <a:extLst>
              <a:ext uri="{FF2B5EF4-FFF2-40B4-BE49-F238E27FC236}">
                <a16:creationId xmlns:a16="http://schemas.microsoft.com/office/drawing/2014/main" id="{811A371D-2A07-AABC-E66C-143D37E0F12C}"/>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2F7BDC7D-6911-7D85-E73A-2061DE32440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6DEA2241-E6A3-8051-F424-21070A5DF29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4DD3D6A9-1C97-9943-C984-B50356BAE3FF}"/>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6BB1489C-F4F8-D62E-3AD9-3CAA028A426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4A64A6E-EA7C-DFF0-C280-5041CD8B135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BE5FF856-5043-C428-B45A-4C00BF9D3418}"/>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CFC7AF72-B76A-8AD8-7E70-BDE8837D662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F6C277EF-EDEF-0F79-B4B2-AB1B3E58301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A32CD2C6-1D06-729E-1157-B2EAAEA172A4}"/>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A222D7EA-F7CE-B4F5-4D06-02860C5AC3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17F695A3-7B3D-00FE-26D6-E53B473BCF1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5A8D3527-DD17-232E-3ECB-BDBFC0FF3DE7}"/>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1C3EBC87-5F86-657B-5C0D-7DFFB3C4281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5638183B-03CC-91E5-1C67-EAD126FB6DA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8C4C8B82-0B52-9912-DBAF-71546B2F401E}"/>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371F41C0-C399-6E94-B393-623F6ED78C3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5375A05-CD15-FECF-CF37-72BD8B495C3C}"/>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FFA9D0CA-D989-1DF0-9CD9-7BB1BF37D00D}"/>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6D72D40E-C3C8-1774-56F7-396EA1F546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2A94558C-EEEF-6159-C648-7ED1F2545B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A8A0868D-7450-B2DC-5A6A-A607E39122E3}"/>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27C0AD0-E7DC-50B1-90B8-A6B2DA72DDA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9B60539C-7696-ACA6-9070-BC481578187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0A2A8C1-A254-99B6-B7B0-C5A8A5BB008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5" name="Group 35">
            <a:extLst>
              <a:ext uri="{FF2B5EF4-FFF2-40B4-BE49-F238E27FC236}">
                <a16:creationId xmlns:a16="http://schemas.microsoft.com/office/drawing/2014/main" id="{B814A5FC-F17C-8D1A-04C8-1ED6A2AE0E65}"/>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2EC11913-1FC3-79C0-FB94-72486D9673F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6CB89B22-25E1-321C-5A74-15CF8EBC7CA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35C6402D-9C63-51C1-99A9-4206C05377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9EC6A4DA-6D4B-3E6A-CF92-E543DD7AFBF5}"/>
              </a:ext>
            </a:extLst>
          </p:cNvPr>
          <p:cNvSpPr txBox="1"/>
          <p:nvPr/>
        </p:nvSpPr>
        <p:spPr>
          <a:xfrm>
            <a:off x="2209800" y="1638300"/>
            <a:ext cx="15082325" cy="6124754"/>
          </a:xfrm>
          <a:prstGeom prst="rect">
            <a:avLst/>
          </a:prstGeom>
          <a:noFill/>
        </p:spPr>
        <p:txBody>
          <a:bodyPr wrap="square" rtlCol="0">
            <a:spAutoFit/>
          </a:bodyPr>
          <a:lstStyle/>
          <a:p>
            <a:endParaRPr lang="en-US" sz="2800" dirty="0">
              <a:solidFill>
                <a:srgbClr val="0033CC"/>
              </a:solidFill>
            </a:endParaRPr>
          </a:p>
          <a:p>
            <a:endParaRPr lang="en-US" sz="2800" dirty="0">
              <a:solidFill>
                <a:srgbClr val="0033CC"/>
              </a:solidFill>
            </a:endParaRP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3" name="Picture 2" descr="The image depicts a user interface for an event booking platform, featuring a colorful layout with tabs for 'Discover &amp; Book Events', various event categories, and a list of upcoming events with their dates, locations, and pricing options.&#10;&#10;AI-generated content may be incorrect.">
            <a:extLst>
              <a:ext uri="{FF2B5EF4-FFF2-40B4-BE49-F238E27FC236}">
                <a16:creationId xmlns:a16="http://schemas.microsoft.com/office/drawing/2014/main" id="{8C284DBE-893F-53F9-26E0-431D13317D2B}"/>
              </a:ext>
            </a:extLst>
          </p:cNvPr>
          <p:cNvPicPr>
            <a:picLocks noChangeAspect="1"/>
          </p:cNvPicPr>
          <p:nvPr/>
        </p:nvPicPr>
        <p:blipFill>
          <a:blip r:embed="rId3"/>
          <a:stretch>
            <a:fillRect/>
          </a:stretch>
        </p:blipFill>
        <p:spPr>
          <a:xfrm>
            <a:off x="2099607" y="1607428"/>
            <a:ext cx="14616427" cy="7948349"/>
          </a:xfrm>
          <a:prstGeom prst="rect">
            <a:avLst/>
          </a:prstGeom>
        </p:spPr>
      </p:pic>
    </p:spTree>
    <p:extLst>
      <p:ext uri="{BB962C8B-B14F-4D97-AF65-F5344CB8AC3E}">
        <p14:creationId xmlns:p14="http://schemas.microsoft.com/office/powerpoint/2010/main" val="28115139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4F051-5473-4E78-FEB2-59A87A5FBB9B}"/>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66BE183E-F015-FFD4-5C84-C25B4DCE490A}"/>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3AEC1772-D597-ACC7-7EF1-FF0460F37AA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46839344-8B05-5C56-F0B1-64E24F458991}"/>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8(B)</a:t>
              </a:r>
            </a:p>
          </p:txBody>
        </p:sp>
      </p:grpSp>
      <p:grpSp>
        <p:nvGrpSpPr>
          <p:cNvPr id="10" name="Group 10">
            <a:extLst>
              <a:ext uri="{FF2B5EF4-FFF2-40B4-BE49-F238E27FC236}">
                <a16:creationId xmlns:a16="http://schemas.microsoft.com/office/drawing/2014/main" id="{23B54700-9ABF-8EDD-8B21-24A9248C534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B99246F8-F6B5-2F2E-2FB4-FAE1DD41DCC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B7CDDD7B-8A9B-223F-951A-473D0C9404F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B3E1A8FC-D0F1-BD05-9C14-C10EAE95E57E}"/>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CEB5FB4E-3BF3-BC6A-6692-FE375141E45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38F8F103-F0A5-8F95-A139-8DBEBEF19C2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8C558648-2D59-16EB-3098-EAF5DE978B1F}"/>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B168779D-5467-4E78-AD1E-36B5A75A347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8AFC0BB4-20A4-849D-A1E4-FA90A8DDCC7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700D33AC-D53D-0E96-8752-E5DA06AE57A5}"/>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14DABAFB-38B3-CE49-B21D-A496D7EC2A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BE27A610-3BC0-BFBC-2A61-4C157B024EF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6C0E28B4-531C-D2E1-F3C9-B5A98A28B69D}"/>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C193347-3923-7F1F-A580-A7462B158EC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C5DDC20D-7BD0-E255-26F1-86A88AF67CF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9DBB21A1-CAFF-686E-D181-980219283F79}"/>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5531A9C5-B561-53EA-BF9A-3BE6A607C1B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D8870C21-3327-4D63-FD34-36BC479967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4D7C3EBE-FA20-7E4C-13DD-84F1A98618F6}"/>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C1E3AE62-1B2B-FE1E-010C-A26C4F613A6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CDA04BD5-C99C-980C-6593-EDEA378D6C3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E77207A6-9552-432B-0793-EB6A88EE3C10}"/>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7447A1E-BA0C-26C0-C743-E590A55A653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8D425BCC-6A0F-30CB-18E7-D1E21E871D9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35F87FC1-4854-F9D4-8104-40945AD6A772}"/>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5" name="Group 35">
            <a:extLst>
              <a:ext uri="{FF2B5EF4-FFF2-40B4-BE49-F238E27FC236}">
                <a16:creationId xmlns:a16="http://schemas.microsoft.com/office/drawing/2014/main" id="{C7CF20EF-980A-2D88-E968-DCB5B8BC6CF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A7A686B7-4E4C-A5FA-60CD-A6EFF9DEAD8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3ECD8D52-6368-578C-BEB2-0B1BA37FD45D}"/>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638323CF-7DCB-075F-B739-0F88472F060D}"/>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6C0EA81E-D408-1A06-6895-1BF3CA09E497}"/>
              </a:ext>
            </a:extLst>
          </p:cNvPr>
          <p:cNvSpPr txBox="1"/>
          <p:nvPr/>
        </p:nvSpPr>
        <p:spPr>
          <a:xfrm>
            <a:off x="2209800" y="1638300"/>
            <a:ext cx="15082325" cy="4832092"/>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3" name="Picture 2" descr="The image displays a booking form for a cloud computing workshop, with fields for full name, email, roll number, department, quantity, and total amount, followed by an option to proceed to payment.&#10;&#10;AI-generated content may be incorrect.">
            <a:extLst>
              <a:ext uri="{FF2B5EF4-FFF2-40B4-BE49-F238E27FC236}">
                <a16:creationId xmlns:a16="http://schemas.microsoft.com/office/drawing/2014/main" id="{19E52B88-192E-4795-7922-628CD08C12E9}"/>
              </a:ext>
            </a:extLst>
          </p:cNvPr>
          <p:cNvPicPr>
            <a:picLocks noChangeAspect="1"/>
          </p:cNvPicPr>
          <p:nvPr/>
        </p:nvPicPr>
        <p:blipFill>
          <a:blip r:embed="rId3"/>
          <a:stretch>
            <a:fillRect/>
          </a:stretch>
        </p:blipFill>
        <p:spPr>
          <a:xfrm>
            <a:off x="1758842" y="2254251"/>
            <a:ext cx="7082786" cy="6172735"/>
          </a:xfrm>
          <a:prstGeom prst="rect">
            <a:avLst/>
          </a:prstGeom>
        </p:spPr>
      </p:pic>
      <p:pic>
        <p:nvPicPr>
          <p:cNvPr id="38" name="Picture 37" descr="A user's cloud computing workshop ticket with payment details, verification code, and download link.&#10;&#10;AI-generated content may be incorrect.">
            <a:extLst>
              <a:ext uri="{FF2B5EF4-FFF2-40B4-BE49-F238E27FC236}">
                <a16:creationId xmlns:a16="http://schemas.microsoft.com/office/drawing/2014/main" id="{C8084CEB-35CB-A1C1-2555-F944A027E98B}"/>
              </a:ext>
            </a:extLst>
          </p:cNvPr>
          <p:cNvPicPr>
            <a:picLocks noChangeAspect="1"/>
          </p:cNvPicPr>
          <p:nvPr/>
        </p:nvPicPr>
        <p:blipFill>
          <a:blip r:embed="rId4"/>
          <a:stretch>
            <a:fillRect/>
          </a:stretch>
        </p:blipFill>
        <p:spPr>
          <a:xfrm>
            <a:off x="9720420" y="2217949"/>
            <a:ext cx="7399661" cy="6462320"/>
          </a:xfrm>
          <a:prstGeom prst="rect">
            <a:avLst/>
          </a:prstGeom>
        </p:spPr>
      </p:pic>
    </p:spTree>
    <p:extLst>
      <p:ext uri="{BB962C8B-B14F-4D97-AF65-F5344CB8AC3E}">
        <p14:creationId xmlns:p14="http://schemas.microsoft.com/office/powerpoint/2010/main" val="47544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AA6E-1A8C-A42D-344E-C811AB58A618}"/>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EB7F1E1F-336A-607D-2868-6C57FF54EB44}"/>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63528BA9-EE0E-A6F8-4A8C-6DFC964B206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6E25C449-B344-E643-12F7-C89DEE4255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8(C)</a:t>
              </a:r>
            </a:p>
          </p:txBody>
        </p:sp>
      </p:grpSp>
      <p:grpSp>
        <p:nvGrpSpPr>
          <p:cNvPr id="10" name="Group 10">
            <a:extLst>
              <a:ext uri="{FF2B5EF4-FFF2-40B4-BE49-F238E27FC236}">
                <a16:creationId xmlns:a16="http://schemas.microsoft.com/office/drawing/2014/main" id="{4C22D2BC-F5CA-423B-6FD6-94172693045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F6670B32-1168-757A-3D40-FDD55687DCF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0D3BB7FD-57C6-C09A-D875-135D505A8E1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067A86AC-A2D1-3F33-5857-9F69983F71BB}"/>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D9EADC3C-D136-0700-9300-4D8E867EC53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8EAD5F3-3FC4-819A-6ECD-0BC55C92A2B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1671F77B-B3A5-F8B6-AC67-6EF88CA95877}"/>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1303025A-EF3E-710E-2DBD-D89F29B8499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76E7D281-CC96-92C2-C2F7-583674F0609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E0D02FED-C5F4-9CC7-F1F5-E75E542840A9}"/>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384D1E33-434F-2FA0-56CC-F24058D8639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F2FC0DCA-FB2A-610C-A8DB-76CE251A57D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4CA1DB61-05A2-042F-9815-00DBC40D0556}"/>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7E4E958-360B-28EF-052B-EDDBDD5F40F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BEDBF5CC-2720-E821-001C-11BCB7273E2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6B96629A-6996-B0D7-13D6-0FA011422666}"/>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912F1ED8-E3AD-E90A-10CE-D50A8F7D91A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0E45F23-6E8F-F601-2EB3-537A898E704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A40D6715-3580-0B1B-2305-C7ED6083AE85}"/>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11A59530-4B7F-6C6B-290E-578EA30200D0}"/>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9BDCE736-251A-5B70-853E-A0A9A174F36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8249BDCF-E07B-269B-D039-A4360C0FE2B4}"/>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6F6B04FD-3FAC-90A2-4C1A-D809D058C0A9}"/>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BEE5C092-697C-26F6-D6E0-477F151E7CAE}"/>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FF80FEAE-01A3-1956-FB30-BED14CA86273}"/>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5" name="Group 35">
            <a:extLst>
              <a:ext uri="{FF2B5EF4-FFF2-40B4-BE49-F238E27FC236}">
                <a16:creationId xmlns:a16="http://schemas.microsoft.com/office/drawing/2014/main" id="{2E8D2AB5-8B00-D9B4-469D-07CAE4ECF9C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F9F17E25-114F-438B-701A-7788D333F3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1C4B6667-B2EE-BA32-402F-04368D88D5C4}"/>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B953180-DB27-F046-86E3-E3508247B406}"/>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341A1FDE-E3AB-682A-64B7-DA145F23EB91}"/>
              </a:ext>
            </a:extLst>
          </p:cNvPr>
          <p:cNvSpPr txBox="1"/>
          <p:nvPr/>
        </p:nvSpPr>
        <p:spPr>
          <a:xfrm>
            <a:off x="2209800" y="1638300"/>
            <a:ext cx="15082325" cy="5262979"/>
          </a:xfrm>
          <a:prstGeom prst="rect">
            <a:avLst/>
          </a:prstGeom>
          <a:noFill/>
        </p:spPr>
        <p:txBody>
          <a:bodyPr wrap="square" rtlCol="0">
            <a:spAutoFit/>
          </a:bodyPr>
          <a:lstStyle/>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4" name="Picture 3" descr="The image displays an admin dashboard for EventBooking, featuring a list of booked events, their status, and associated details like email, quantity, and amount.&#10;&#10;AI-generated content may be incorrect.">
            <a:extLst>
              <a:ext uri="{FF2B5EF4-FFF2-40B4-BE49-F238E27FC236}">
                <a16:creationId xmlns:a16="http://schemas.microsoft.com/office/drawing/2014/main" id="{2A2CE357-1555-B7F3-AF0B-98EC32F4A52B}"/>
              </a:ext>
            </a:extLst>
          </p:cNvPr>
          <p:cNvPicPr>
            <a:picLocks noChangeAspect="1"/>
          </p:cNvPicPr>
          <p:nvPr/>
        </p:nvPicPr>
        <p:blipFill>
          <a:blip r:embed="rId3"/>
          <a:stretch>
            <a:fillRect/>
          </a:stretch>
        </p:blipFill>
        <p:spPr>
          <a:xfrm>
            <a:off x="2162160" y="1676400"/>
            <a:ext cx="14456393" cy="7788315"/>
          </a:xfrm>
          <a:prstGeom prst="rect">
            <a:avLst/>
          </a:prstGeom>
        </p:spPr>
      </p:pic>
    </p:spTree>
    <p:extLst>
      <p:ext uri="{BB962C8B-B14F-4D97-AF65-F5344CB8AC3E}">
        <p14:creationId xmlns:p14="http://schemas.microsoft.com/office/powerpoint/2010/main" val="84889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BAB55-7601-3C41-6F10-EE0F67F7766F}"/>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B9E2C662-B058-485B-BFC3-199F93F6D154}"/>
              </a:ext>
            </a:extLst>
          </p:cNvPr>
          <p:cNvGrpSpPr/>
          <p:nvPr/>
        </p:nvGrpSpPr>
        <p:grpSpPr>
          <a:xfrm>
            <a:off x="735588" y="7321525"/>
            <a:ext cx="992463" cy="992463"/>
            <a:chOff x="0" y="0"/>
            <a:chExt cx="812800" cy="812800"/>
          </a:xfrm>
        </p:grpSpPr>
        <p:sp>
          <p:nvSpPr>
            <p:cNvPr id="6" name="Freeform 6">
              <a:extLst>
                <a:ext uri="{FF2B5EF4-FFF2-40B4-BE49-F238E27FC236}">
                  <a16:creationId xmlns:a16="http://schemas.microsoft.com/office/drawing/2014/main" id="{F125CA7A-BCD4-5B7F-7069-AE7F5BD10A9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a:extLst>
                <a:ext uri="{FF2B5EF4-FFF2-40B4-BE49-F238E27FC236}">
                  <a16:creationId xmlns:a16="http://schemas.microsoft.com/office/drawing/2014/main" id="{07E08158-57E2-530C-A7FD-5AF72088CF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9</a:t>
              </a:r>
            </a:p>
          </p:txBody>
        </p:sp>
      </p:grpSp>
      <p:grpSp>
        <p:nvGrpSpPr>
          <p:cNvPr id="8" name="Group 8">
            <a:extLst>
              <a:ext uri="{FF2B5EF4-FFF2-40B4-BE49-F238E27FC236}">
                <a16:creationId xmlns:a16="http://schemas.microsoft.com/office/drawing/2014/main" id="{CB09EB64-B1EE-DA7A-E7DC-97163FE53167}"/>
              </a:ext>
            </a:extLst>
          </p:cNvPr>
          <p:cNvGrpSpPr/>
          <p:nvPr/>
        </p:nvGrpSpPr>
        <p:grpSpPr>
          <a:xfrm>
            <a:off x="977741" y="3315742"/>
            <a:ext cx="508158" cy="543805"/>
            <a:chOff x="0" y="0"/>
            <a:chExt cx="812800" cy="869819"/>
          </a:xfrm>
        </p:grpSpPr>
        <p:sp>
          <p:nvSpPr>
            <p:cNvPr id="9" name="Freeform 9">
              <a:extLst>
                <a:ext uri="{FF2B5EF4-FFF2-40B4-BE49-F238E27FC236}">
                  <a16:creationId xmlns:a16="http://schemas.microsoft.com/office/drawing/2014/main" id="{4B04A57D-53E9-134E-70C7-51485932A21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a:extLst>
                <a:ext uri="{FF2B5EF4-FFF2-40B4-BE49-F238E27FC236}">
                  <a16:creationId xmlns:a16="http://schemas.microsoft.com/office/drawing/2014/main" id="{AC0A25AD-0459-BAEA-2E7B-0D9279AE1BC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a:extLst>
              <a:ext uri="{FF2B5EF4-FFF2-40B4-BE49-F238E27FC236}">
                <a16:creationId xmlns:a16="http://schemas.microsoft.com/office/drawing/2014/main" id="{E0EBC171-BEE8-2D5E-8755-EE50B2570259}"/>
              </a:ext>
            </a:extLst>
          </p:cNvPr>
          <p:cNvGrpSpPr/>
          <p:nvPr/>
        </p:nvGrpSpPr>
        <p:grpSpPr>
          <a:xfrm>
            <a:off x="977741" y="1982349"/>
            <a:ext cx="508158" cy="543805"/>
            <a:chOff x="0" y="0"/>
            <a:chExt cx="812800" cy="869819"/>
          </a:xfrm>
        </p:grpSpPr>
        <p:sp>
          <p:nvSpPr>
            <p:cNvPr id="12" name="Freeform 12">
              <a:extLst>
                <a:ext uri="{FF2B5EF4-FFF2-40B4-BE49-F238E27FC236}">
                  <a16:creationId xmlns:a16="http://schemas.microsoft.com/office/drawing/2014/main" id="{E4000A93-AB8F-B573-E218-7434988FD58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a:extLst>
                <a:ext uri="{FF2B5EF4-FFF2-40B4-BE49-F238E27FC236}">
                  <a16:creationId xmlns:a16="http://schemas.microsoft.com/office/drawing/2014/main" id="{1228826C-BC2E-0DA0-107F-341F9D1A494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a:extLst>
              <a:ext uri="{FF2B5EF4-FFF2-40B4-BE49-F238E27FC236}">
                <a16:creationId xmlns:a16="http://schemas.microsoft.com/office/drawing/2014/main" id="{7FD594E4-E181-FD3B-1C72-DE2D718C274A}"/>
              </a:ext>
            </a:extLst>
          </p:cNvPr>
          <p:cNvGrpSpPr/>
          <p:nvPr/>
        </p:nvGrpSpPr>
        <p:grpSpPr>
          <a:xfrm>
            <a:off x="977741" y="3983373"/>
            <a:ext cx="508158" cy="543805"/>
            <a:chOff x="0" y="0"/>
            <a:chExt cx="812800" cy="869819"/>
          </a:xfrm>
        </p:grpSpPr>
        <p:sp>
          <p:nvSpPr>
            <p:cNvPr id="15" name="Freeform 15">
              <a:extLst>
                <a:ext uri="{FF2B5EF4-FFF2-40B4-BE49-F238E27FC236}">
                  <a16:creationId xmlns:a16="http://schemas.microsoft.com/office/drawing/2014/main" id="{C16DA90C-521A-EFE9-8EE9-CB3967A5095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a:extLst>
                <a:ext uri="{FF2B5EF4-FFF2-40B4-BE49-F238E27FC236}">
                  <a16:creationId xmlns:a16="http://schemas.microsoft.com/office/drawing/2014/main" id="{5A678428-7466-DB88-0126-41232DE4A0D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a:extLst>
              <a:ext uri="{FF2B5EF4-FFF2-40B4-BE49-F238E27FC236}">
                <a16:creationId xmlns:a16="http://schemas.microsoft.com/office/drawing/2014/main" id="{91D279A8-BDAA-B12E-DD4B-9978E9D5005C}"/>
              </a:ext>
            </a:extLst>
          </p:cNvPr>
          <p:cNvGrpSpPr/>
          <p:nvPr/>
        </p:nvGrpSpPr>
        <p:grpSpPr>
          <a:xfrm>
            <a:off x="977741" y="2648112"/>
            <a:ext cx="508158" cy="543805"/>
            <a:chOff x="0" y="0"/>
            <a:chExt cx="812800" cy="869819"/>
          </a:xfrm>
        </p:grpSpPr>
        <p:sp>
          <p:nvSpPr>
            <p:cNvPr id="18" name="Freeform 18">
              <a:extLst>
                <a:ext uri="{FF2B5EF4-FFF2-40B4-BE49-F238E27FC236}">
                  <a16:creationId xmlns:a16="http://schemas.microsoft.com/office/drawing/2014/main" id="{308F1BB3-7F58-DE0C-71F1-9782E09061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a:extLst>
                <a:ext uri="{FF2B5EF4-FFF2-40B4-BE49-F238E27FC236}">
                  <a16:creationId xmlns:a16="http://schemas.microsoft.com/office/drawing/2014/main" id="{35F43F9B-B904-0414-7AA7-1E7959C4C9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a:extLst>
              <a:ext uri="{FF2B5EF4-FFF2-40B4-BE49-F238E27FC236}">
                <a16:creationId xmlns:a16="http://schemas.microsoft.com/office/drawing/2014/main" id="{311E9EBB-A9CE-A64F-FF44-F82C0D52AC32}"/>
              </a:ext>
            </a:extLst>
          </p:cNvPr>
          <p:cNvGrpSpPr/>
          <p:nvPr/>
        </p:nvGrpSpPr>
        <p:grpSpPr>
          <a:xfrm>
            <a:off x="977741" y="5318634"/>
            <a:ext cx="508158" cy="543805"/>
            <a:chOff x="0" y="0"/>
            <a:chExt cx="812800" cy="869819"/>
          </a:xfrm>
        </p:grpSpPr>
        <p:sp>
          <p:nvSpPr>
            <p:cNvPr id="21" name="Freeform 21">
              <a:extLst>
                <a:ext uri="{FF2B5EF4-FFF2-40B4-BE49-F238E27FC236}">
                  <a16:creationId xmlns:a16="http://schemas.microsoft.com/office/drawing/2014/main" id="{DED3A9EA-E50F-553B-EDAA-87F95FD2280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a:extLst>
                <a:ext uri="{FF2B5EF4-FFF2-40B4-BE49-F238E27FC236}">
                  <a16:creationId xmlns:a16="http://schemas.microsoft.com/office/drawing/2014/main" id="{7E9C7CEA-D993-4107-0776-54AC90E2062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3" name="Group 23">
            <a:extLst>
              <a:ext uri="{FF2B5EF4-FFF2-40B4-BE49-F238E27FC236}">
                <a16:creationId xmlns:a16="http://schemas.microsoft.com/office/drawing/2014/main" id="{7B397A27-1CC9-9661-DA24-10B3E1042399}"/>
              </a:ext>
            </a:extLst>
          </p:cNvPr>
          <p:cNvGrpSpPr/>
          <p:nvPr/>
        </p:nvGrpSpPr>
        <p:grpSpPr>
          <a:xfrm>
            <a:off x="977741" y="4651003"/>
            <a:ext cx="508158" cy="543805"/>
            <a:chOff x="0" y="0"/>
            <a:chExt cx="812800" cy="869819"/>
          </a:xfrm>
        </p:grpSpPr>
        <p:sp>
          <p:nvSpPr>
            <p:cNvPr id="24" name="Freeform 24">
              <a:extLst>
                <a:ext uri="{FF2B5EF4-FFF2-40B4-BE49-F238E27FC236}">
                  <a16:creationId xmlns:a16="http://schemas.microsoft.com/office/drawing/2014/main" id="{2A8CD899-9C63-11A3-805F-4CA0E12C7CB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a:extLst>
                <a:ext uri="{FF2B5EF4-FFF2-40B4-BE49-F238E27FC236}">
                  <a16:creationId xmlns:a16="http://schemas.microsoft.com/office/drawing/2014/main" id="{1976C224-9A36-532E-5E8B-B738C9FBC3FF}"/>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6" name="Group 26">
            <a:extLst>
              <a:ext uri="{FF2B5EF4-FFF2-40B4-BE49-F238E27FC236}">
                <a16:creationId xmlns:a16="http://schemas.microsoft.com/office/drawing/2014/main" id="{E8CFE39F-6666-6E69-8980-5B55F6D56478}"/>
              </a:ext>
            </a:extLst>
          </p:cNvPr>
          <p:cNvGrpSpPr/>
          <p:nvPr/>
        </p:nvGrpSpPr>
        <p:grpSpPr>
          <a:xfrm>
            <a:off x="977741" y="5986264"/>
            <a:ext cx="508158" cy="543805"/>
            <a:chOff x="0" y="0"/>
            <a:chExt cx="812800" cy="869819"/>
          </a:xfrm>
        </p:grpSpPr>
        <p:sp>
          <p:nvSpPr>
            <p:cNvPr id="27" name="Freeform 27">
              <a:extLst>
                <a:ext uri="{FF2B5EF4-FFF2-40B4-BE49-F238E27FC236}">
                  <a16:creationId xmlns:a16="http://schemas.microsoft.com/office/drawing/2014/main" id="{F859737D-AFDF-BDFC-6651-3B954F2DD4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a:extLst>
                <a:ext uri="{FF2B5EF4-FFF2-40B4-BE49-F238E27FC236}">
                  <a16:creationId xmlns:a16="http://schemas.microsoft.com/office/drawing/2014/main" id="{B7B59B44-AD68-1549-9F86-A09D82459B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a:extLst>
              <a:ext uri="{FF2B5EF4-FFF2-40B4-BE49-F238E27FC236}">
                <a16:creationId xmlns:a16="http://schemas.microsoft.com/office/drawing/2014/main" id="{3FACABC2-D51C-1EF5-0D1B-34B410283F2E}"/>
              </a:ext>
            </a:extLst>
          </p:cNvPr>
          <p:cNvGrpSpPr/>
          <p:nvPr/>
        </p:nvGrpSpPr>
        <p:grpSpPr>
          <a:xfrm>
            <a:off x="977741" y="6653894"/>
            <a:ext cx="508158" cy="543805"/>
            <a:chOff x="0" y="0"/>
            <a:chExt cx="812800" cy="869819"/>
          </a:xfrm>
        </p:grpSpPr>
        <p:sp>
          <p:nvSpPr>
            <p:cNvPr id="30" name="Freeform 30">
              <a:extLst>
                <a:ext uri="{FF2B5EF4-FFF2-40B4-BE49-F238E27FC236}">
                  <a16:creationId xmlns:a16="http://schemas.microsoft.com/office/drawing/2014/main" id="{6DD43112-BD1E-86D9-D9C6-3C97559FC56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a:extLst>
                <a:ext uri="{FF2B5EF4-FFF2-40B4-BE49-F238E27FC236}">
                  <a16:creationId xmlns:a16="http://schemas.microsoft.com/office/drawing/2014/main" id="{C34845E4-4A4B-0A81-5A55-14004816579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sp>
        <p:nvSpPr>
          <p:cNvPr id="32" name="Freeform 32">
            <a:extLst>
              <a:ext uri="{FF2B5EF4-FFF2-40B4-BE49-F238E27FC236}">
                <a16:creationId xmlns:a16="http://schemas.microsoft.com/office/drawing/2014/main" id="{05CB8E9D-B497-44FF-DB18-7D166BD2DA61}"/>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44" name="Group 44">
            <a:extLst>
              <a:ext uri="{FF2B5EF4-FFF2-40B4-BE49-F238E27FC236}">
                <a16:creationId xmlns:a16="http://schemas.microsoft.com/office/drawing/2014/main" id="{FBD0A79F-CA0B-2560-37ED-E07624B11027}"/>
              </a:ext>
            </a:extLst>
          </p:cNvPr>
          <p:cNvGrpSpPr/>
          <p:nvPr/>
        </p:nvGrpSpPr>
        <p:grpSpPr>
          <a:xfrm>
            <a:off x="16786360" y="-353712"/>
            <a:ext cx="10994424" cy="10994424"/>
            <a:chOff x="0" y="0"/>
            <a:chExt cx="812800" cy="812800"/>
          </a:xfrm>
        </p:grpSpPr>
        <p:sp>
          <p:nvSpPr>
            <p:cNvPr id="45" name="Freeform 45">
              <a:extLst>
                <a:ext uri="{FF2B5EF4-FFF2-40B4-BE49-F238E27FC236}">
                  <a16:creationId xmlns:a16="http://schemas.microsoft.com/office/drawing/2014/main" id="{25583CD3-FA12-1B53-043B-9FE4E18BA02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sp>
        <p:sp>
          <p:nvSpPr>
            <p:cNvPr id="46" name="TextBox 46">
              <a:extLst>
                <a:ext uri="{FF2B5EF4-FFF2-40B4-BE49-F238E27FC236}">
                  <a16:creationId xmlns:a16="http://schemas.microsoft.com/office/drawing/2014/main" id="{FA405478-0BA8-4A85-A81A-B9346174FE6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2" name="TextBox 1">
            <a:extLst>
              <a:ext uri="{FF2B5EF4-FFF2-40B4-BE49-F238E27FC236}">
                <a16:creationId xmlns:a16="http://schemas.microsoft.com/office/drawing/2014/main" id="{BC926643-39EA-932E-6755-230476B3078D}"/>
              </a:ext>
            </a:extLst>
          </p:cNvPr>
          <p:cNvSpPr txBox="1"/>
          <p:nvPr/>
        </p:nvSpPr>
        <p:spPr>
          <a:xfrm>
            <a:off x="190500" y="290493"/>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ADVANTAGES &amp; LIMITATIONS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9F67AE5-ECE1-F1EA-A904-8B0B018D3538}"/>
              </a:ext>
            </a:extLst>
          </p:cNvPr>
          <p:cNvSpPr txBox="1"/>
          <p:nvPr/>
        </p:nvSpPr>
        <p:spPr>
          <a:xfrm>
            <a:off x="2209801" y="1638301"/>
            <a:ext cx="14576560" cy="8279190"/>
          </a:xfrm>
          <a:prstGeom prst="rect">
            <a:avLst/>
          </a:prstGeom>
          <a:noFill/>
          <a:ln>
            <a:noFill/>
          </a:ln>
        </p:spPr>
        <p:txBody>
          <a:bodyPr wrap="square" rtlCol="0">
            <a:spAutoFit/>
          </a:bodyPr>
          <a:lstStyle/>
          <a:p>
            <a:pPr marL="457200" indent="-457200">
              <a:buFontTx/>
              <a:buChar char="-"/>
            </a:pPr>
            <a:endParaRPr lang="en-US" sz="2800" dirty="0"/>
          </a:p>
          <a:p>
            <a:r>
              <a:rPr lang="en-US" sz="2800" b="1" dirty="0">
                <a:solidFill>
                  <a:srgbClr val="0033CC"/>
                </a:solidFill>
              </a:rPr>
              <a:t>Advantages:</a:t>
            </a:r>
          </a:p>
          <a:p>
            <a:endParaRPr lang="en-US" sz="2800" dirty="0"/>
          </a:p>
          <a:p>
            <a:r>
              <a:rPr lang="en-US" sz="2800" dirty="0"/>
              <a:t>1.Time saving and Fully Automated.</a:t>
            </a:r>
          </a:p>
          <a:p>
            <a:r>
              <a:rPr lang="en-US" sz="2800" dirty="0"/>
              <a:t>2. Real-time ticket availability and instant confirmation.</a:t>
            </a:r>
          </a:p>
          <a:p>
            <a:r>
              <a:rPr lang="en-US" sz="2800" dirty="0"/>
              <a:t>3. Easy access and user-friendly interface.</a:t>
            </a:r>
          </a:p>
          <a:p>
            <a:pPr marL="457200" indent="-457200">
              <a:buFontTx/>
              <a:buChar char="-"/>
            </a:pPr>
            <a:endParaRPr lang="en-US" sz="2800" dirty="0"/>
          </a:p>
          <a:p>
            <a:r>
              <a:rPr lang="en-US" sz="2800" b="1" dirty="0">
                <a:solidFill>
                  <a:srgbClr val="0033CC"/>
                </a:solidFill>
              </a:rPr>
              <a:t>Limitations:</a:t>
            </a:r>
          </a:p>
          <a:p>
            <a:r>
              <a:rPr lang="en-US" sz="2800" b="1" dirty="0"/>
              <a:t> </a:t>
            </a:r>
          </a:p>
          <a:p>
            <a:r>
              <a:rPr lang="en-US" sz="2800" dirty="0"/>
              <a:t>1. Initial setup and development complexity.</a:t>
            </a:r>
          </a:p>
          <a:p>
            <a:r>
              <a:rPr lang="en-US" sz="2800" dirty="0"/>
              <a:t>2.Internet Dependency(Stable Internet connection is Required).</a:t>
            </a:r>
          </a:p>
          <a:p>
            <a:r>
              <a:rPr lang="en-US" sz="2800" dirty="0"/>
              <a:t>3.Security and Malpractice Issues.</a:t>
            </a:r>
          </a:p>
          <a:p>
            <a:r>
              <a:rPr lang="en-US" sz="2800" dirty="0"/>
              <a:t>4. Depends on system/server availability.</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extLst>
      <p:ext uri="{BB962C8B-B14F-4D97-AF65-F5344CB8AC3E}">
        <p14:creationId xmlns:p14="http://schemas.microsoft.com/office/powerpoint/2010/main" val="26876156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32" name="Freeform 32"/>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43" name="TextBox 43"/>
          <p:cNvSpPr txBox="1"/>
          <p:nvPr/>
        </p:nvSpPr>
        <p:spPr>
          <a:xfrm>
            <a:off x="3200400" y="4486172"/>
            <a:ext cx="11159653" cy="1314655"/>
          </a:xfrm>
          <a:prstGeom prst="rect">
            <a:avLst/>
          </a:prstGeom>
        </p:spPr>
        <p:txBody>
          <a:bodyPr wrap="square" lIns="0" tIns="0" rIns="0" bIns="0" rtlCol="0" anchor="t">
            <a:spAutoFit/>
          </a:bodyPr>
          <a:lstStyle/>
          <a:p>
            <a:pPr algn="ctr">
              <a:lnSpc>
                <a:spcPts val="10149"/>
              </a:lnSpc>
            </a:pPr>
            <a:r>
              <a:rPr lang="en-US" sz="11153" b="1" i="1" dirty="0">
                <a:solidFill>
                  <a:srgbClr val="191919"/>
                </a:solidFill>
                <a:latin typeface="Gotham Bold Italics"/>
                <a:ea typeface="Gotham Bold Italics"/>
                <a:cs typeface="Gotham Bold Italics"/>
                <a:sym typeface="Gotham Bold Italic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658</TotalTime>
  <Words>862</Words>
  <Application>Microsoft Office PowerPoint</Application>
  <PresentationFormat>Custom</PresentationFormat>
  <Paragraphs>332</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Times New Roman</vt:lpstr>
      <vt:lpstr>Gotham Bold Italics</vt:lpstr>
      <vt:lpstr>Bookman Old Style</vt:lpstr>
      <vt:lpstr>Calibri</vt:lpstr>
      <vt:lpstr>Wingdings</vt:lpstr>
      <vt:lpstr>Gotham</vt:lpstr>
      <vt:lpstr>Cambria</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Orange Simple Portfolio Presentation</dc:title>
  <dc:creator>Bhargav</dc:creator>
  <cp:lastModifiedBy>Jonnalagadda Poorna Chandar</cp:lastModifiedBy>
  <cp:revision>30</cp:revision>
  <dcterms:created xsi:type="dcterms:W3CDTF">2006-08-16T00:00:00Z</dcterms:created>
  <dcterms:modified xsi:type="dcterms:W3CDTF">2026-05-06T03:35:57Z</dcterms:modified>
  <dc:identifier>DAHCaYqJ9OU</dc:identifier>
</cp:coreProperties>
</file>